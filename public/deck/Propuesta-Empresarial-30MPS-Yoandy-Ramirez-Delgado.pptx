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"Vosotros decís que 'el mundo no está hecho de destinos, sino de caminos'. Hoy la base ya está asentada y la experiencia existe. 
Lo que os propongo hoy es la herramienta para que 30 MPS recorra esos caminos de manera más rápida, inteligente y escalable."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sola frase. El negocio funciona porque el criterio de Miguel funciona, y ese criterio vive en su cabeza y en su bandeja de entrada.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Treinta segundos de perfil. Lo relevante: sistemas seguros, auditables y transferibles. No vengo a crear dependencia.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el número antes de hablar de herramientas. El gap es 200.000 €, un 25 %. Estas mismas cifras están en el Dashboard de 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Meta se descompone en tres palancas medibles. Las tres necesitan datos reales dentro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pasos para convertir las palancas en ingresos. Insistir: la plataforma ya está construida; esto es puesta en marcha, no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frenos, ordenados por lo que cuestan. Los tres primeros son de medición; el cuarto solo se resuelve después. La herramienta ya está: falta el dato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Reencuadre honesto: la mitad de la matriz ya está construida. Se priorizó retorno inmediato en operaciones antes de invertir en modelos predictivos.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abre el portátil. Empezar por las dos piezas grandes: cuadro de mando y motor comercial. El resto es soporte operativo.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solo sitio donde vive el negocio: ya persiste. Insistir en que Laura opera al 100 % sin perfil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 de precio, respondida antes de publicar la salida. El sistema da el contexto; la decisión sigue siendo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prepara, la persona escribe. El borrador sale del correo de Miguel, con su firma. Ese límite no se negocia.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10 segundos: prepara facturas con el régimen de agencias de viajes y deja el camino listo para Veri*FACTU en 2027. Privacidad por diseño, no nota al pie.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quick win ya no es construir: es meter los datos reales y cerrar la seguridad. Cuatro pasos, 2-3 semanas, cero licencias.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bloques para arrancar: datos, credenciales, dos sesiones y dos aprobaciones. Sin esto el quick win se retrasa.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fase 0 ya está hecha. Al día 90 se responde de dónde vienen los clientes, qué margen deja cada salida y a quién escribir. Y abro los tres ejes de conversación.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Repetir la frase, abrir turno de preguntas y dejar la demo abierta en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yoandyrd92" TargetMode="External"/><Relationship Id="rId2" Type="http://schemas.openxmlformats.org/officeDocument/2006/relationships/hyperlink" Target="https://github.com/heindall92" TargetMode="External"/><Relationship Id="rId3" Type="http://schemas.openxmlformats.org/officeDocument/2006/relationships/hyperlink" Target="https://yoandyramirez.com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30mps.vercel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F766E">
                  <a:alpha val="22000"/>
                </a:srgbClr>
              </a:gs>
              <a:gs pos="42000">
                <a:srgbClr val="0F766E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1047750"/>
            <a:ext cx="68427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· 30 MPS ADVENTURES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 rot="2700000">
            <a:off x="16040100" y="1047750"/>
            <a:ext cx="1009650" cy="1009650"/>
          </a:xfrm>
          <a:prstGeom prst="roundRect">
            <a:avLst>
              <a:gd name="adj" fmla="val 16981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302458" y="1310108"/>
            <a:ext cx="484933" cy="484934"/>
          </a:xfrm>
          <a:prstGeom prst="roundRect">
            <a:avLst>
              <a:gd name="adj" fmla="val 11785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2274094"/>
            <a:ext cx="13146405" cy="3067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333"/>
              </a:lnSpc>
              <a:buNone/>
            </a:pPr>
            <a:r>
              <a:rPr lang="en-US" sz="7950" b="1" spc="-199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MPS El mundo no está hecho de destinos, sino de caminos.</a:t>
            </a:r>
            <a:endParaRPr lang="en-US" sz="7950" dirty="0"/>
          </a:p>
        </p:txBody>
      </p:sp>
      <p:sp>
        <p:nvSpPr>
          <p:cNvPr id="7" name="Shape 5"/>
          <p:cNvSpPr/>
          <p:nvPr/>
        </p:nvSpPr>
        <p:spPr>
          <a:xfrm>
            <a:off x="1238250" y="5645944"/>
            <a:ext cx="2095500" cy="47625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619250" y="6436519"/>
            <a:ext cx="9614535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315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"Tenéis la visión y la experiencia. Os presento la plataforma para construir el siguiente gran camino de 30 MPS."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238250" y="8553450"/>
            <a:ext cx="35833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Yoandy Ramírez Delgado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38250" y="8972550"/>
            <a:ext cx="35833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Builder · perfil freelance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839700" y="8648700"/>
            <a:ext cx="4210050" cy="590550"/>
          </a:xfrm>
          <a:prstGeom prst="roundRect">
            <a:avLst>
              <a:gd name="adj" fmla="val 50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096875" y="8886825"/>
            <a:ext cx="114300" cy="11430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3" name="Text 11"/>
          <p:cNvSpPr/>
          <p:nvPr/>
        </p:nvSpPr>
        <p:spPr>
          <a:xfrm>
            <a:off x="13401675" y="8810625"/>
            <a:ext cx="37299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en vivo · 30mps.vercel.app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8000"/>
                </a:srgbClr>
              </a:gs>
              <a:gs pos="42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333500" y="1143000"/>
            <a:ext cx="171831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33500" y="3603427"/>
            <a:ext cx="14519910" cy="3118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117"/>
              </a:lnSpc>
              <a:buNone/>
            </a:pPr>
            <a:r>
              <a:rPr lang="en-US" sz="7350" i="1" spc="-73" kern="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un problema de marketing. Es un problema de </a:t>
            </a:r>
            <a:pPr algn="l" indent="0" marL="0">
              <a:lnSpc>
                <a:spcPct val="97117"/>
              </a:lnSpc>
              <a:buNone/>
            </a:pPr>
            <a:r>
              <a:rPr lang="en-US" sz="7350" i="1" spc="-73" kern="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memoria </a:t>
            </a:r>
            <a:pPr algn="l" indent="0" marL="0">
              <a:lnSpc>
                <a:spcPct val="97117"/>
              </a:lnSpc>
              <a:buNone/>
            </a:pPr>
            <a:r>
              <a:rPr lang="en-US" sz="7350" i="1" spc="-73" kern="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de </a:t>
            </a:r>
            <a:pPr algn="l" indent="0" marL="0">
              <a:lnSpc>
                <a:spcPct val="97117"/>
              </a:lnSpc>
              <a:buNone/>
            </a:pPr>
            <a:r>
              <a:rPr lang="en-US" sz="7350" i="1" spc="-73" kern="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tiempo</a:t>
            </a:r>
            <a:pPr algn="l" indent="0" marL="0">
              <a:lnSpc>
                <a:spcPct val="97117"/>
              </a:lnSpc>
              <a:buNone/>
            </a:pPr>
            <a:r>
              <a:rPr lang="en-US" sz="7350" i="1" spc="-73" kern="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7350" dirty="0"/>
          </a:p>
        </p:txBody>
      </p:sp>
      <p:sp>
        <p:nvSpPr>
          <p:cNvPr id="5" name="Shape 3"/>
          <p:cNvSpPr/>
          <p:nvPr/>
        </p:nvSpPr>
        <p:spPr>
          <a:xfrm rot="2700000">
            <a:off x="1333500" y="8905875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1771650" y="8877300"/>
            <a:ext cx="9995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sistema habla nunca con un viajero. Los sistemas preparan; las personas firman.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8000"/>
                </a:srgbClr>
              </a:gs>
              <a:gs pos="42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914400"/>
            <a:ext cx="17392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PERFIL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371600"/>
            <a:ext cx="13538835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877"/>
              </a:lnSpc>
              <a:buNone/>
            </a:pPr>
            <a:r>
              <a:rPr lang="en-US" sz="5250" b="1" spc="-105" kern="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tecnología que construyo tiene que sobrevivir sin mí.</a:t>
            </a:r>
            <a:endParaRPr lang="en-US" sz="5250" dirty="0"/>
          </a:p>
        </p:txBody>
      </p:sp>
      <p:sp>
        <p:nvSpPr>
          <p:cNvPr id="5" name="Shape 3"/>
          <p:cNvSpPr/>
          <p:nvPr/>
        </p:nvSpPr>
        <p:spPr>
          <a:xfrm>
            <a:off x="1238250" y="3177480"/>
            <a:ext cx="7743825" cy="5509320"/>
          </a:xfrm>
          <a:prstGeom prst="roundRect">
            <a:avLst>
              <a:gd name="adj" fmla="val 3458"/>
            </a:avLst>
          </a:prstGeom>
          <a:solidFill>
            <a:srgbClr val="1E293B">
              <a:alpha val="78000"/>
            </a:srgbClr>
          </a:solidFill>
          <a:ln w="9525">
            <a:solidFill>
              <a:srgbClr val="94A3B8">
                <a:alpha val="22000"/>
              </a:srgbClr>
            </a:solidFill>
            <a:prstDash val="solid"/>
          </a:ln>
          <a:effectLst>
            <a:outerShdw sx="100000" sy="100000" kx="0" ky="0" algn="bl" rotWithShape="0" blurRad="457200" dist="152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66875" y="3606105"/>
            <a:ext cx="75752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TRAYECTORIA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 rot="2700000">
            <a:off x="1666875" y="418713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971675" y="4101405"/>
            <a:ext cx="6779228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 años como Técnico en Sistemas y Redes (titulación homologada en España)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 rot="2700000">
            <a:off x="1666875" y="5046166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1971675" y="4960441"/>
            <a:ext cx="6936105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Máster en Ciberseguridad &amp; IA — Evolve Academy (2026)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 rot="2700000">
            <a:off x="1666875" y="557093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971675" y="5485209"/>
            <a:ext cx="497681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eJPTv2 · Google IT Support · Cisco · IBM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 rot="2700000">
            <a:off x="1666875" y="6095702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971675" y="6009977"/>
            <a:ext cx="720852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HTB Level 65 · Top 0,31 % en Sherlocks · TryHackMe activo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305925" y="3177480"/>
            <a:ext cx="7743825" cy="5509320"/>
          </a:xfrm>
          <a:prstGeom prst="roundRect">
            <a:avLst>
              <a:gd name="adj" fmla="val 3458"/>
            </a:avLst>
          </a:prstGeom>
          <a:solidFill>
            <a:srgbClr val="1E293B">
              <a:alpha val="55000"/>
            </a:srgbClr>
          </a:solidFill>
          <a:ln w="9525">
            <a:solidFill>
              <a:srgbClr val="94A3B8">
                <a:alpha val="22000"/>
              </a:srgbClr>
            </a:solidFill>
            <a:prstDash val="solid"/>
          </a:ln>
          <a:effectLst>
            <a:outerShdw sx="100000" sy="100000" kx="0" ky="0" algn="bl" rotWithShape="0" blurRad="457200" dist="1524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734550" y="3606105"/>
            <a:ext cx="75752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IMPORTA PARA 30 MPS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 rot="2700000">
            <a:off x="9734550" y="418713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DD4BF">
              <a:alpha val="5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039350" y="4101405"/>
            <a:ext cx="652748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Construyo sistemas seguros, auditables y transferibles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 rot="2700000">
            <a:off x="9734550" y="4711898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DD4BF">
              <a:alpha val="5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039350" y="4626173"/>
            <a:ext cx="6779228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creo dependencia: entrego el código, la documentación y el manual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 rot="2700000">
            <a:off x="9734550" y="557093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DD4BF">
              <a:alpha val="5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039350" y="5485209"/>
            <a:ext cx="6684645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 30–40 h/semana: encajo en vuestra operativa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 rot="2700000">
            <a:off x="9734550" y="6095702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DD4BF">
              <a:alpha val="5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039350" y="6009977"/>
            <a:ext cx="582549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Lepe, Huelva · remoto · disponibilidad inmediata</a:t>
            </a:r>
            <a:endParaRPr lang="en-US" sz="1950" dirty="0"/>
          </a:p>
        </p:txBody>
      </p:sp>
      <p:sp>
        <p:nvSpPr>
          <p:cNvPr id="25" name="Text 23">
            <a:hlinkClick r:id="rId1" tooltip=""/>
          </p:cNvPr>
          <p:cNvSpPr/>
          <p:nvPr/>
        </p:nvSpPr>
        <p:spPr>
          <a:xfrm>
            <a:off x="4967288" y="9105900"/>
            <a:ext cx="30803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u="sng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linkedin.com/in/yoandyrd92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53387" y="9105900"/>
            <a:ext cx="152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27" name="Text 25">
            <a:hlinkClick r:id="rId2" tooltip=""/>
          </p:cNvPr>
          <p:cNvSpPr/>
          <p:nvPr/>
        </p:nvSpPr>
        <p:spPr>
          <a:xfrm>
            <a:off x="8415338" y="9105900"/>
            <a:ext cx="24936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u="sng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github.com/heindall92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68038" y="9105900"/>
            <a:ext cx="152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29" name="Text 27">
            <a:hlinkClick r:id="rId3" tooltip=""/>
          </p:cNvPr>
          <p:cNvSpPr/>
          <p:nvPr/>
        </p:nvSpPr>
        <p:spPr>
          <a:xfrm>
            <a:off x="11329988" y="9105900"/>
            <a:ext cx="21897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u="sng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yoandyramirez.com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F766E">
                  <a:alpha val="22000"/>
                </a:srgbClr>
              </a:gs>
              <a:gs pos="42000">
                <a:srgbClr val="0F766E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914400"/>
            <a:ext cx="53058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1352550"/>
            <a:ext cx="530587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b="1" spc="-108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 Actual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2744450" y="1771650"/>
            <a:ext cx="47358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visible en el Dashboard, cada mañana.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8250" y="2495550"/>
            <a:ext cx="9760297" cy="6877050"/>
          </a:xfrm>
          <a:prstGeom prst="roundRect">
            <a:avLst>
              <a:gd name="adj" fmla="val 277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24025" y="4419600"/>
            <a:ext cx="37046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56091" y="4419600"/>
            <a:ext cx="26462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spc="18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66564" y="4419600"/>
            <a:ext cx="2646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spc="18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24025" y="4914900"/>
            <a:ext cx="37046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5156091" y="4914900"/>
            <a:ext cx="264622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800.000 €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7866564" y="4914900"/>
            <a:ext cx="2646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1.000.000 €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724025" y="5467350"/>
            <a:ext cx="37046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Viajeros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5156091" y="5467350"/>
            <a:ext cx="264622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7866564" y="5467350"/>
            <a:ext cx="2646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724025" y="6019800"/>
            <a:ext cx="37046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Salidas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5156091" y="6019800"/>
            <a:ext cx="264622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7866564" y="6019800"/>
            <a:ext cx="2646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1724025" y="6572250"/>
            <a:ext cx="37046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medio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5156091" y="6572250"/>
            <a:ext cx="264622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5.300 €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7866564" y="6572250"/>
            <a:ext cx="2646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5.950 €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1724025" y="7124700"/>
            <a:ext cx="37046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/ salida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5156091" y="7124700"/>
            <a:ext cx="264622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75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casi no se mide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7866564" y="7124700"/>
            <a:ext cx="26460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30 %</a:t>
            </a:r>
            <a:endParaRPr lang="en-US" sz="2175" dirty="0"/>
          </a:p>
        </p:txBody>
      </p:sp>
      <p:sp>
        <p:nvSpPr>
          <p:cNvPr id="25" name="Shape 23"/>
          <p:cNvSpPr/>
          <p:nvPr/>
        </p:nvSpPr>
        <p:spPr>
          <a:xfrm rot="2700000">
            <a:off x="12252424" y="3971924"/>
            <a:ext cx="3924301" cy="3924301"/>
          </a:xfrm>
          <a:prstGeom prst="roundRect">
            <a:avLst>
              <a:gd name="adj" fmla="val 7767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3809464" y="5024438"/>
            <a:ext cx="8862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176224" y="5367338"/>
            <a:ext cx="4484370" cy="1114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00" b="1" spc="-207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200.000 €</a:t>
            </a:r>
            <a:endParaRPr lang="en-US" sz="6900" dirty="0"/>
          </a:p>
        </p:txBody>
      </p:sp>
      <p:sp>
        <p:nvSpPr>
          <p:cNvPr id="28" name="Text 26"/>
          <p:cNvSpPr/>
          <p:nvPr/>
        </p:nvSpPr>
        <p:spPr>
          <a:xfrm>
            <a:off x="13028712" y="6519863"/>
            <a:ext cx="260889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+25 % en dos años</a:t>
            </a:r>
            <a:endParaRPr lang="en-US" sz="21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F766E">
                  <a:alpha val="22000"/>
                </a:srgbClr>
              </a:gs>
              <a:gs pos="42000">
                <a:srgbClr val="0F766E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752475"/>
            <a:ext cx="40490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32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 NEGOCIO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919216" y="666750"/>
            <a:ext cx="5159573" cy="438150"/>
          </a:xfrm>
          <a:prstGeom prst="roundRect">
            <a:avLst>
              <a:gd name="adj" fmla="val 50000"/>
            </a:avLst>
          </a:prstGeom>
          <a:solidFill>
            <a:srgbClr val="0F766E">
              <a:alpha val="12000"/>
            </a:srgbClr>
          </a:solidFill>
          <a:ln w="9525">
            <a:solidFill>
              <a:srgbClr val="0F766E">
                <a:alpha val="2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19241" y="752475"/>
            <a:ext cx="49143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DESGLOSE DE IMPACTO DIRECTO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238250"/>
            <a:ext cx="178117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20"/>
              </a:lnSpc>
              <a:buNone/>
            </a:pPr>
            <a:r>
              <a:rPr lang="en-US" sz="5250" b="1" spc="-105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tres palancas de crecimiento</a:t>
            </a:r>
            <a:endParaRPr lang="en-US" sz="5250" dirty="0"/>
          </a:p>
        </p:txBody>
      </p:sp>
      <p:sp>
        <p:nvSpPr>
          <p:cNvPr id="7" name="Text 5"/>
          <p:cNvSpPr/>
          <p:nvPr/>
        </p:nvSpPr>
        <p:spPr>
          <a:xfrm>
            <a:off x="1047750" y="2038350"/>
            <a:ext cx="13620750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ejecutable para capturar entre 165 k € y 240 k € optimizando rutas, clientes y margen real.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047750" y="2652117"/>
            <a:ext cx="5219700" cy="4948833"/>
          </a:xfrm>
          <a:prstGeom prst="roundRect">
            <a:avLst>
              <a:gd name="adj" fmla="val 3849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00175" y="2966442"/>
            <a:ext cx="250837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117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80–110 k €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4943475" y="3042642"/>
            <a:ext cx="971550" cy="419100"/>
          </a:xfrm>
          <a:prstGeom prst="roundRect">
            <a:avLst>
              <a:gd name="adj" fmla="val 50000"/>
            </a:avLst>
          </a:prstGeom>
          <a:solidFill>
            <a:srgbClr val="0F766E">
              <a:alpha val="12000"/>
            </a:srgbClr>
          </a:solidFill>
          <a:ln w="9525">
            <a:solidFill>
              <a:srgbClr val="0F766E">
                <a:alpha val="2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5400" y="3118842"/>
            <a:ext cx="723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 rot="2700000">
            <a:off x="1400175" y="3728442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685925" y="3671292"/>
            <a:ext cx="36512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PALANCA 1 · OCUPACIÓN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00175" y="4071342"/>
            <a:ext cx="49663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Llenar mejor las rutas existentes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400175" y="4547592"/>
            <a:ext cx="4650296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Programar </a:t>
            </a:r>
            <a:pPr algn="l" indent="0" marL="0">
              <a:lnSpc>
                <a:spcPct val="11375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salidas nuevas </a:t>
            </a:r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rutas con demanda ya comprobada.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400175" y="6279059"/>
            <a:ext cx="4514850" cy="9525"/>
          </a:xfrm>
          <a:prstGeom prst="rect">
            <a:avLst/>
          </a:prstGeom>
          <a:solidFill>
            <a:srgbClr val="475569">
              <a:alpha val="2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400175" y="6440984"/>
            <a:ext cx="4514850" cy="845641"/>
          </a:xfrm>
          <a:custGeom>
            <a:avLst/>
            <a:gdLst/>
            <a:ahLst/>
            <a:cxnLst/>
            <a:rect l="l" t="t" r="r" b="b"/>
            <a:pathLst>
              <a:path w="4514850" h="845641">
                <a:moveTo>
                  <a:pt x="0" y="0"/>
                </a:moveTo>
                <a:lnTo>
                  <a:pt x="4419600" y="0"/>
                </a:lnTo>
                <a:arcTo hR="95250" wR="95250" stAng="16200000" swAng="5400000"/>
                <a:lnTo>
                  <a:pt x="4514850" y="750391"/>
                </a:lnTo>
                <a:arcTo hR="95250" wR="95250" stAng="0" swAng="5400000"/>
                <a:lnTo>
                  <a:pt x="0" y="845641"/>
                </a:lnTo>
                <a:lnTo>
                  <a:pt x="0" y="0"/>
                </a:lnTo>
                <a:close/>
              </a:path>
            </a:pathLst>
          </a:custGeom>
          <a:solidFill>
            <a:srgbClr val="0F766E">
              <a:alpha val="7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6440984"/>
            <a:ext cx="28575" cy="84564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1600200" y="6555284"/>
            <a:ext cx="4450271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en el panel: </a:t>
            </a:r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475569"/>
                </a:solidFill>
                <a:highlight>
                  <a:srgbClr val="EE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ocupación y margen por ruta.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34150" y="2652117"/>
            <a:ext cx="5219700" cy="4948833"/>
          </a:xfrm>
          <a:prstGeom prst="roundRect">
            <a:avLst>
              <a:gd name="adj" fmla="val 3849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86575" y="2966442"/>
            <a:ext cx="226281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117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45–70 k €</a:t>
            </a:r>
            <a:endParaRPr lang="en-US" sz="3900" dirty="0"/>
          </a:p>
        </p:txBody>
      </p:sp>
      <p:sp>
        <p:nvSpPr>
          <p:cNvPr id="22" name="Shape 20"/>
          <p:cNvSpPr/>
          <p:nvPr/>
        </p:nvSpPr>
        <p:spPr>
          <a:xfrm>
            <a:off x="10429875" y="3042642"/>
            <a:ext cx="971550" cy="419100"/>
          </a:xfrm>
          <a:prstGeom prst="roundRect">
            <a:avLst>
              <a:gd name="adj" fmla="val 50000"/>
            </a:avLst>
          </a:prstGeom>
          <a:solidFill>
            <a:srgbClr val="047857">
              <a:alpha val="12000"/>
            </a:srgbClr>
          </a:solidFill>
          <a:ln w="9525">
            <a:solidFill>
              <a:srgbClr val="047857">
                <a:alpha val="24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91800" y="3118842"/>
            <a:ext cx="723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~30 %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 rot="2700000">
            <a:off x="6886575" y="3728442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047857"/>
          </a:solidFill>
          <a:ln/>
        </p:spPr>
      </p:sp>
      <p:sp>
        <p:nvSpPr>
          <p:cNvPr id="25" name="Text 23"/>
          <p:cNvSpPr/>
          <p:nvPr/>
        </p:nvSpPr>
        <p:spPr>
          <a:xfrm>
            <a:off x="7172325" y="3671292"/>
            <a:ext cx="4036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PALANCA 2 · RECURRENCIA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86575" y="4071342"/>
            <a:ext cx="49663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Reactivar clientes dormidos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6886575" y="4547592"/>
            <a:ext cx="4650296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 </a:t>
            </a:r>
            <a:pPr algn="l" indent="0" marL="0">
              <a:lnSpc>
                <a:spcPct val="11375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8–12 viajeros históricos </a:t>
            </a:r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alto valor.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6886575" y="6279059"/>
            <a:ext cx="4514850" cy="9525"/>
          </a:xfrm>
          <a:prstGeom prst="rect">
            <a:avLst/>
          </a:prstGeom>
          <a:solidFill>
            <a:srgbClr val="475569">
              <a:alpha val="2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886575" y="6440984"/>
            <a:ext cx="4514850" cy="845641"/>
          </a:xfrm>
          <a:custGeom>
            <a:avLst/>
            <a:gdLst/>
            <a:ahLst/>
            <a:cxnLst/>
            <a:rect l="l" t="t" r="r" b="b"/>
            <a:pathLst>
              <a:path w="4514850" h="845641">
                <a:moveTo>
                  <a:pt x="0" y="0"/>
                </a:moveTo>
                <a:lnTo>
                  <a:pt x="4419600" y="0"/>
                </a:lnTo>
                <a:arcTo hR="95250" wR="95250" stAng="16200000" swAng="5400000"/>
                <a:lnTo>
                  <a:pt x="4514850" y="750391"/>
                </a:lnTo>
                <a:arcTo hR="95250" wR="95250" stAng="0" swAng="5400000"/>
                <a:lnTo>
                  <a:pt x="0" y="845641"/>
                </a:lnTo>
                <a:lnTo>
                  <a:pt x="0" y="0"/>
                </a:lnTo>
                <a:close/>
              </a:path>
            </a:pathLst>
          </a:custGeom>
          <a:solidFill>
            <a:srgbClr val="047857">
              <a:alpha val="7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886575" y="6440984"/>
            <a:ext cx="28575" cy="845641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086600" y="6555284"/>
            <a:ext cx="4450271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en el CRM: </a:t>
            </a:r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475569"/>
                </a:solidFill>
                <a:highlight>
                  <a:srgbClr val="EDF6F3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el sistema hace la cola; llama el equipo.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020550" y="2652117"/>
            <a:ext cx="5219700" cy="4948833"/>
          </a:xfrm>
          <a:prstGeom prst="roundRect">
            <a:avLst>
              <a:gd name="adj" fmla="val 3849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2372975" y="2966442"/>
            <a:ext cx="234663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117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40–60 k €</a:t>
            </a:r>
            <a:endParaRPr lang="en-US" sz="3900" dirty="0"/>
          </a:p>
        </p:txBody>
      </p:sp>
      <p:sp>
        <p:nvSpPr>
          <p:cNvPr id="34" name="Shape 32"/>
          <p:cNvSpPr/>
          <p:nvPr/>
        </p:nvSpPr>
        <p:spPr>
          <a:xfrm>
            <a:off x="15916275" y="3042642"/>
            <a:ext cx="971550" cy="419100"/>
          </a:xfrm>
          <a:prstGeom prst="roundRect">
            <a:avLst>
              <a:gd name="adj" fmla="val 50000"/>
            </a:avLst>
          </a:prstGeom>
          <a:solidFill>
            <a:srgbClr val="0369A1">
              <a:alpha val="12000"/>
            </a:srgbClr>
          </a:solidFill>
          <a:ln w="9525">
            <a:solidFill>
              <a:srgbClr val="0369A1">
                <a:alpha val="24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78200" y="3118842"/>
            <a:ext cx="723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~25 %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 rot="2700000">
            <a:off x="12372975" y="3728442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0369A1"/>
          </a:solidFill>
          <a:ln/>
        </p:spPr>
      </p:sp>
      <p:sp>
        <p:nvSpPr>
          <p:cNvPr id="37" name="Text 35"/>
          <p:cNvSpPr/>
          <p:nvPr/>
        </p:nvSpPr>
        <p:spPr>
          <a:xfrm>
            <a:off x="12658725" y="3671292"/>
            <a:ext cx="31404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PALANCA 3 · PRICING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372975" y="4071342"/>
            <a:ext cx="49663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de precio con criterio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12372975" y="4547592"/>
            <a:ext cx="4650296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</a:t>
            </a:r>
            <a:pPr algn="l" indent="0" marL="0">
              <a:lnSpc>
                <a:spcPct val="11375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+5 % a +8 % </a:t>
            </a:r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donde la demanda supera la oferta.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2372975" y="6279059"/>
            <a:ext cx="4514850" cy="9525"/>
          </a:xfrm>
          <a:prstGeom prst="rect">
            <a:avLst/>
          </a:prstGeom>
          <a:solidFill>
            <a:srgbClr val="475569">
              <a:alpha val="2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2372975" y="6440984"/>
            <a:ext cx="4514850" cy="845641"/>
          </a:xfrm>
          <a:custGeom>
            <a:avLst/>
            <a:gdLst/>
            <a:ahLst/>
            <a:cxnLst/>
            <a:rect l="l" t="t" r="r" b="b"/>
            <a:pathLst>
              <a:path w="4514850" h="845641">
                <a:moveTo>
                  <a:pt x="0" y="0"/>
                </a:moveTo>
                <a:lnTo>
                  <a:pt x="4419600" y="0"/>
                </a:lnTo>
                <a:arcTo hR="95250" wR="95250" stAng="16200000" swAng="5400000"/>
                <a:lnTo>
                  <a:pt x="4514850" y="750391"/>
                </a:lnTo>
                <a:arcTo hR="95250" wR="95250" stAng="0" swAng="5400000"/>
                <a:lnTo>
                  <a:pt x="0" y="845641"/>
                </a:lnTo>
                <a:lnTo>
                  <a:pt x="0" y="0"/>
                </a:lnTo>
                <a:close/>
              </a:path>
            </a:pathLst>
          </a:custGeom>
          <a:solidFill>
            <a:srgbClr val="0369A1">
              <a:alpha val="7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2372975" y="6440984"/>
            <a:ext cx="28575" cy="845641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3" name="Text 41"/>
          <p:cNvSpPr/>
          <p:nvPr/>
        </p:nvSpPr>
        <p:spPr>
          <a:xfrm>
            <a:off x="12573000" y="6555284"/>
            <a:ext cx="4450271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en el CRM: </a:t>
            </a:r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475569"/>
                </a:solidFill>
                <a:highlight>
                  <a:srgbClr val="EDF4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margen real antes de publicar el precio.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047750" y="7867650"/>
            <a:ext cx="16192500" cy="1285875"/>
          </a:xfrm>
          <a:prstGeom prst="roundRect">
            <a:avLst>
              <a:gd name="adj" fmla="val 14815"/>
            </a:avLst>
          </a:prstGeom>
          <a:gradFill rotWithShape="1">
            <a:gsLst>
              <a:gs pos="0">
                <a:srgbClr val="0F766E">
                  <a:alpha val="100000"/>
                </a:srgbClr>
              </a:gs>
              <a:gs pos="100000">
                <a:srgbClr val="115E59">
                  <a:alpha val="100000"/>
                </a:srgbClr>
              </a:gs>
            </a:gsLst>
            <a:lin ang="900000" scaled="0"/>
          </a:gradFill>
          <a:ln/>
          <a:effectLst>
            <a:outerShdw sx="100000" sy="100000" kx="0" ky="0" algn="bl" rotWithShape="0" blurRad="400050" dist="133350" dir="5400000">
              <a:srgbClr val="0F766E">
                <a:alpha val="2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371600" y="8253264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700000">
            <a:off x="1524000" y="8405664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2095500" y="8199090"/>
            <a:ext cx="96078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1F5F9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 CLAVE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2095500" y="8513415"/>
            <a:ext cx="960786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82"/>
              </a:lnSpc>
              <a:buNone/>
            </a:pPr>
            <a:r>
              <a:rPr lang="en-US" sz="20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3 palancas requieren alimentar la plataforma con vuestros datos reales.</a:t>
            </a:r>
            <a:endParaRPr lang="en-US" sz="2025" dirty="0"/>
          </a:p>
        </p:txBody>
      </p:sp>
      <p:sp>
        <p:nvSpPr>
          <p:cNvPr id="49" name="Text 47"/>
          <p:cNvSpPr/>
          <p:nvPr/>
        </p:nvSpPr>
        <p:spPr>
          <a:xfrm>
            <a:off x="13856196" y="8115300"/>
            <a:ext cx="33662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1F5F9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COMBINADO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2787015" y="8420100"/>
            <a:ext cx="454232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165.000 € – 240.000 €</a:t>
            </a:r>
            <a:endParaRPr lang="en-US" sz="3300" dirty="0"/>
          </a:p>
        </p:txBody>
      </p:sp>
      <p:sp>
        <p:nvSpPr>
          <p:cNvPr id="51" name="Shape 49"/>
          <p:cNvSpPr/>
          <p:nvPr/>
        </p:nvSpPr>
        <p:spPr>
          <a:xfrm>
            <a:off x="1047750" y="9420225"/>
            <a:ext cx="16192500" cy="9525"/>
          </a:xfrm>
          <a:prstGeom prst="rect">
            <a:avLst/>
          </a:prstGeom>
          <a:solidFill>
            <a:srgbClr val="475569">
              <a:alpha val="16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047750" y="9486900"/>
            <a:ext cx="33035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MPS </a:t>
            </a:r>
            <a:pPr algn="l" indent="0" marL="0">
              <a:buNone/>
            </a:pPr>
            <a:r>
              <a:rPr lang="en-US" sz="1800" b="1" spc="288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ADVENTURES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4382750" y="9486900"/>
            <a:ext cx="3143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decisiones accionables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F766E">
                  <a:alpha val="22000"/>
                </a:srgbClr>
              </a:gs>
              <a:gs pos="42000">
                <a:srgbClr val="0F766E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752475"/>
            <a:ext cx="23847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RUTA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06229" y="666750"/>
            <a:ext cx="5101679" cy="438150"/>
          </a:xfrm>
          <a:prstGeom prst="roundRect">
            <a:avLst>
              <a:gd name="adj" fmla="val 50000"/>
            </a:avLst>
          </a:prstGeom>
          <a:solidFill>
            <a:srgbClr val="0F766E">
              <a:alpha val="12000"/>
            </a:srgbClr>
          </a:solidFill>
          <a:ln w="9525">
            <a:solidFill>
              <a:srgbClr val="0F766E">
                <a:alpha val="2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06254" y="752475"/>
            <a:ext cx="48546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SOFTWARE A LOS RESULTADOS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238250"/>
            <a:ext cx="178117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20"/>
              </a:lnSpc>
              <a:buNone/>
            </a:pPr>
            <a:r>
              <a:rPr lang="en-US" sz="5250" b="1" spc="-105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convertimos estas palancas en ingresos</a:t>
            </a:r>
            <a:endParaRPr lang="en-US" sz="5250" dirty="0"/>
          </a:p>
        </p:txBody>
      </p:sp>
      <p:sp>
        <p:nvSpPr>
          <p:cNvPr id="7" name="Text 5"/>
          <p:cNvSpPr/>
          <p:nvPr/>
        </p:nvSpPr>
        <p:spPr>
          <a:xfrm>
            <a:off x="1047750" y="2038350"/>
            <a:ext cx="13620750" cy="38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55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proceso en 3 pasos para poner a funcionar la plataforma sin interrumpir la operación.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047750" y="2652117"/>
            <a:ext cx="5219700" cy="4996607"/>
          </a:xfrm>
          <a:prstGeom prst="roundRect">
            <a:avLst>
              <a:gd name="adj" fmla="val 3813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00175" y="2985492"/>
            <a:ext cx="496633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400175" y="3757017"/>
            <a:ext cx="4966335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053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de datos reales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00175" y="4275088"/>
            <a:ext cx="4650296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de vuestra base de clientes, histórico de salidas y costes por ruta al sistema ya construido.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400175" y="6740128"/>
            <a:ext cx="4514850" cy="575221"/>
          </a:xfrm>
          <a:custGeom>
            <a:avLst/>
            <a:gdLst/>
            <a:ahLst/>
            <a:cxnLst/>
            <a:rect l="l" t="t" r="r" b="b"/>
            <a:pathLst>
              <a:path w="4514850" h="575221">
                <a:moveTo>
                  <a:pt x="0" y="0"/>
                </a:moveTo>
                <a:lnTo>
                  <a:pt x="4419600" y="0"/>
                </a:lnTo>
                <a:arcTo hR="95250" wR="95250" stAng="16200000" swAng="5400000"/>
                <a:lnTo>
                  <a:pt x="4514850" y="479971"/>
                </a:lnTo>
                <a:arcTo hR="95250" wR="95250" stAng="0" swAng="5400000"/>
                <a:lnTo>
                  <a:pt x="0" y="575221"/>
                </a:lnTo>
                <a:lnTo>
                  <a:pt x="0" y="0"/>
                </a:lnTo>
                <a:close/>
              </a:path>
            </a:pathLst>
          </a:custGeom>
          <a:solidFill>
            <a:srgbClr val="0F766E">
              <a:alpha val="7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400175" y="6740128"/>
            <a:ext cx="28575" cy="57522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Shape 12"/>
          <p:cNvSpPr/>
          <p:nvPr/>
        </p:nvSpPr>
        <p:spPr>
          <a:xfrm rot="2700000">
            <a:off x="1600200" y="6949678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885950" y="6873478"/>
            <a:ext cx="422243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Puesta a punto en menos de 10 días.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34150" y="2652117"/>
            <a:ext cx="5219700" cy="4996607"/>
          </a:xfrm>
          <a:prstGeom prst="roundRect">
            <a:avLst>
              <a:gd name="adj" fmla="val 3813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86575" y="2985492"/>
            <a:ext cx="496633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886575" y="3757017"/>
            <a:ext cx="4966335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053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Activación comercial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86575" y="4275088"/>
            <a:ext cx="4650296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diario de los paneles de ocupación y de la cola «llamar este mes» por parte del equipo.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886575" y="6431607"/>
            <a:ext cx="4514850" cy="883741"/>
          </a:xfrm>
          <a:custGeom>
            <a:avLst/>
            <a:gdLst/>
            <a:ahLst/>
            <a:cxnLst/>
            <a:rect l="l" t="t" r="r" b="b"/>
            <a:pathLst>
              <a:path w="4514850" h="883741">
                <a:moveTo>
                  <a:pt x="0" y="0"/>
                </a:moveTo>
                <a:lnTo>
                  <a:pt x="4419600" y="0"/>
                </a:lnTo>
                <a:arcTo hR="95250" wR="95250" stAng="16200000" swAng="5400000"/>
                <a:lnTo>
                  <a:pt x="4514850" y="788491"/>
                </a:lnTo>
                <a:arcTo hR="95250" wR="95250" stAng="0" swAng="5400000"/>
                <a:lnTo>
                  <a:pt x="0" y="883741"/>
                </a:lnTo>
                <a:lnTo>
                  <a:pt x="0" y="0"/>
                </a:lnTo>
                <a:close/>
              </a:path>
            </a:pathLst>
          </a:custGeom>
          <a:solidFill>
            <a:srgbClr val="047857">
              <a:alpha val="7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886575" y="6431607"/>
            <a:ext cx="28575" cy="883741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2" name="Shape 20"/>
          <p:cNvSpPr/>
          <p:nvPr/>
        </p:nvSpPr>
        <p:spPr>
          <a:xfrm rot="2700000">
            <a:off x="7086600" y="6641157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047857"/>
          </a:solidFill>
          <a:ln/>
        </p:spPr>
      </p:sp>
      <p:sp>
        <p:nvSpPr>
          <p:cNvPr id="23" name="Text 21"/>
          <p:cNvSpPr/>
          <p:nvPr/>
        </p:nvSpPr>
        <p:spPr>
          <a:xfrm>
            <a:off x="7372350" y="6564957"/>
            <a:ext cx="4149947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Llamadas enfocadas en los clientes con mayor scoring.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020550" y="2652117"/>
            <a:ext cx="5219700" cy="4996607"/>
          </a:xfrm>
          <a:prstGeom prst="roundRect">
            <a:avLst>
              <a:gd name="adj" fmla="val 3813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372975" y="2985492"/>
            <a:ext cx="496633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12372975" y="3757017"/>
            <a:ext cx="4966335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053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márgenes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372975" y="4275088"/>
            <a:ext cx="4650296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1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de tarifas y apertura de fechas nuevas con datos reales de margen por salida.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2372975" y="6740128"/>
            <a:ext cx="4514850" cy="575221"/>
          </a:xfrm>
          <a:custGeom>
            <a:avLst/>
            <a:gdLst/>
            <a:ahLst/>
            <a:cxnLst/>
            <a:rect l="l" t="t" r="r" b="b"/>
            <a:pathLst>
              <a:path w="4514850" h="575221">
                <a:moveTo>
                  <a:pt x="0" y="0"/>
                </a:moveTo>
                <a:lnTo>
                  <a:pt x="4419600" y="0"/>
                </a:lnTo>
                <a:arcTo hR="95250" wR="95250" stAng="16200000" swAng="5400000"/>
                <a:lnTo>
                  <a:pt x="4514850" y="479971"/>
                </a:lnTo>
                <a:arcTo hR="95250" wR="95250" stAng="0" swAng="5400000"/>
                <a:lnTo>
                  <a:pt x="0" y="575221"/>
                </a:lnTo>
                <a:lnTo>
                  <a:pt x="0" y="0"/>
                </a:lnTo>
                <a:close/>
              </a:path>
            </a:pathLst>
          </a:custGeom>
          <a:solidFill>
            <a:srgbClr val="0369A1">
              <a:alpha val="7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372975" y="6740128"/>
            <a:ext cx="28575" cy="575221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12573000" y="6949678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0369A1"/>
          </a:solidFill>
          <a:ln/>
        </p:spPr>
      </p:sp>
      <p:sp>
        <p:nvSpPr>
          <p:cNvPr id="31" name="Text 29"/>
          <p:cNvSpPr/>
          <p:nvPr/>
        </p:nvSpPr>
        <p:spPr>
          <a:xfrm>
            <a:off x="12858750" y="6873478"/>
            <a:ext cx="400240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progresiva de los +200 k €.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47750" y="7915424"/>
            <a:ext cx="16192500" cy="1238101"/>
          </a:xfrm>
          <a:prstGeom prst="roundRect">
            <a:avLst>
              <a:gd name="adj" fmla="val 15386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 rot="2700000">
            <a:off x="1381125" y="8420100"/>
            <a:ext cx="228600" cy="228600"/>
          </a:xfrm>
          <a:prstGeom prst="roundRect">
            <a:avLst>
              <a:gd name="adj" fmla="val 20833"/>
            </a:avLst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1819275" y="8191649"/>
            <a:ext cx="868584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824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plataforma ya está desarrollada y lista para usar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819275" y="8568779"/>
            <a:ext cx="868584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concepto abstracto: la herramienta funciona y se puede probar hoy.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4794557" y="8229600"/>
            <a:ext cx="2112318" cy="609600"/>
          </a:xfrm>
          <a:prstGeom prst="roundRect">
            <a:avLst>
              <a:gd name="adj" fmla="val 21875"/>
            </a:avLst>
          </a:prstGeom>
          <a:solidFill>
            <a:srgbClr val="0F766E"/>
          </a:solidFill>
          <a:ln/>
          <a:effectLst>
            <a:outerShdw sx="100000" sy="100000" kx="0" ky="0" algn="bl" rotWithShape="0" blurRad="304800" dist="114300" dir="5400000">
              <a:srgbClr val="0F766E">
                <a:alpha val="30000"/>
              </a:srgbClr>
            </a:outerShdw>
          </a:effectLst>
        </p:spPr>
      </p:sp>
      <p:sp>
        <p:nvSpPr>
          <p:cNvPr id="37" name="Text 35">
            <a:hlinkClick r:id="rId1" tooltip=""/>
          </p:cNvPr>
          <p:cNvSpPr/>
          <p:nvPr/>
        </p:nvSpPr>
        <p:spPr>
          <a:xfrm>
            <a:off x="15118407" y="8401050"/>
            <a:ext cx="15408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u="sng" spc="36" kern="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demo 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47750" y="9420225"/>
            <a:ext cx="16192500" cy="9525"/>
          </a:xfrm>
          <a:prstGeom prst="rect">
            <a:avLst/>
          </a:prstGeom>
          <a:solidFill>
            <a:srgbClr val="475569">
              <a:alpha val="16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047750" y="9486900"/>
            <a:ext cx="33035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MPS </a:t>
            </a:r>
            <a:pPr algn="l" indent="0" marL="0">
              <a:buNone/>
            </a:pPr>
            <a:r>
              <a:rPr lang="en-US" sz="1800" b="1" spc="288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ADVENTURES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782550" y="9486900"/>
            <a:ext cx="49034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30mps.vercel.app · demo interactiva en vivo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F766E">
                  <a:alpha val="22000"/>
                </a:srgbClr>
              </a:gs>
              <a:gs pos="42000">
                <a:srgbClr val="0F766E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8001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DIAGNÓSTICO OPERATIVO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238250"/>
            <a:ext cx="17602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b="1" spc="-108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frenos del crecimiento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143000" y="2286000"/>
            <a:ext cx="9331672" cy="1201489"/>
          </a:xfrm>
          <a:prstGeom prst="roundRect">
            <a:avLst>
              <a:gd name="adj" fmla="val 15855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95425" y="2658070"/>
            <a:ext cx="495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2181225" y="2543175"/>
            <a:ext cx="6464618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51"/>
              </a:lnSpc>
              <a:buNone/>
            </a:pPr>
            <a:r>
              <a:rPr lang="en-US" sz="23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Ceguera de captación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2181225" y="2920752"/>
            <a:ext cx="646461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del 70 % de los leads entran sin origen rastreable.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8615660" y="2667595"/>
            <a:ext cx="1506587" cy="438150"/>
          </a:xfrm>
          <a:prstGeom prst="roundRect">
            <a:avLst>
              <a:gd name="adj" fmla="val 50000"/>
            </a:avLst>
          </a:prstGeom>
          <a:solidFill>
            <a:srgbClr val="B91C1C">
              <a:alpha val="10000"/>
            </a:srgbClr>
          </a:solidFill>
          <a:ln w="9525">
            <a:solidFill>
              <a:srgbClr val="B91C1C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15685" y="2753320"/>
            <a:ext cx="11827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3677989"/>
            <a:ext cx="9331672" cy="1201489"/>
          </a:xfrm>
          <a:prstGeom prst="roundRect">
            <a:avLst>
              <a:gd name="adj" fmla="val 15855"/>
            </a:avLst>
          </a:prstGeom>
          <a:solidFill>
            <a:srgbClr val="FFFFFF">
              <a:alpha val="74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95425" y="4050060"/>
            <a:ext cx="5429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2228850" y="3935164"/>
            <a:ext cx="595122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51"/>
              </a:lnSpc>
              <a:buNone/>
            </a:pPr>
            <a:r>
              <a:rPr lang="en-US" sz="23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a ciegas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2228850" y="4312741"/>
            <a:ext cx="595122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datos de margen real ni de ocupación por ruta.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143000" y="5069979"/>
            <a:ext cx="9331672" cy="1201489"/>
          </a:xfrm>
          <a:prstGeom prst="roundRect">
            <a:avLst>
              <a:gd name="adj" fmla="val 15855"/>
            </a:avLst>
          </a:prstGeom>
          <a:solidFill>
            <a:srgbClr val="FFFFFF">
              <a:alpha val="74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95425" y="5442049"/>
            <a:ext cx="5429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2228850" y="5327154"/>
            <a:ext cx="7742873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51"/>
              </a:lnSpc>
              <a:buNone/>
            </a:pPr>
            <a:r>
              <a:rPr lang="en-US" sz="23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operativa</a:t>
            </a:r>
            <a:endParaRPr lang="en-US" sz="2325" dirty="0"/>
          </a:p>
        </p:txBody>
      </p:sp>
      <p:sp>
        <p:nvSpPr>
          <p:cNvPr id="18" name="Text 16"/>
          <p:cNvSpPr/>
          <p:nvPr/>
        </p:nvSpPr>
        <p:spPr>
          <a:xfrm>
            <a:off x="2228850" y="5704731"/>
            <a:ext cx="774287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manual centralizada en Miguel: fuga de 12–18 h/semana.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143000" y="6461968"/>
            <a:ext cx="9331672" cy="1201489"/>
          </a:xfrm>
          <a:prstGeom prst="roundRect">
            <a:avLst>
              <a:gd name="adj" fmla="val 15855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95425" y="6834039"/>
            <a:ext cx="5524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2238375" y="6719143"/>
            <a:ext cx="5584508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51"/>
              </a:lnSpc>
              <a:buNone/>
            </a:pPr>
            <a:r>
              <a:rPr lang="en-US" sz="23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Fuga de retención</a:t>
            </a:r>
            <a:endParaRPr lang="en-US" sz="2325" dirty="0"/>
          </a:p>
        </p:txBody>
      </p:sp>
      <p:sp>
        <p:nvSpPr>
          <p:cNvPr id="22" name="Text 20"/>
          <p:cNvSpPr/>
          <p:nvPr/>
        </p:nvSpPr>
        <p:spPr>
          <a:xfrm>
            <a:off x="2238375" y="7096720"/>
            <a:ext cx="558450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de 300 clientes (60 %) no volvieron a viajar.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8055322" y="6929289"/>
            <a:ext cx="22736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 01 y 02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855672" y="2286000"/>
            <a:ext cx="6289328" cy="7200900"/>
          </a:xfrm>
          <a:prstGeom prst="roundRect">
            <a:avLst>
              <a:gd name="adj" fmla="val 3029"/>
            </a:avLst>
          </a:prstGeom>
          <a:gradFill rotWithShape="1">
            <a:gsLst>
              <a:gs pos="0">
                <a:srgbClr val="2DD4BF">
                  <a:alpha val="16000"/>
                </a:srgbClr>
              </a:gs>
              <a:gs pos="55000">
                <a:srgbClr val="2DD4BF">
                  <a:alpha val="0"/>
                </a:srgbClr>
              </a:gs>
            </a:gsLst>
            <a:path path="circle">
              <a:fillToRect l="20000" t="10000" r="80000" b="90000"/>
            </a:path>
          </a:gradFill>
          <a:ln/>
          <a:effectLst>
            <a:outerShdw sx="100000" sy="100000" kx="0" ky="0" algn="bl" rotWithShape="0" blurRad="457200" dist="152400" dir="5400000">
              <a:srgbClr val="020617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 rot="2700000">
            <a:off x="11255722" y="4296073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11255722" y="4753273"/>
            <a:ext cx="5653905" cy="147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15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infraestructura digital ya está operativa. Lo que falta es inyectarle vuestra realidad.</a:t>
            </a:r>
            <a:endParaRPr lang="en-US" sz="3150" dirty="0"/>
          </a:p>
        </p:txBody>
      </p:sp>
      <p:sp>
        <p:nvSpPr>
          <p:cNvPr id="27" name="Text 25"/>
          <p:cNvSpPr/>
          <p:nvPr/>
        </p:nvSpPr>
        <p:spPr>
          <a:xfrm>
            <a:off x="11255722" y="6440835"/>
            <a:ext cx="5653905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escalar ese 25 % no hace falta reinventar la empresa ni buscar fórmulas mágicas: centralizar los datos, medir con precisión y ejecutar.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8000"/>
                </a:srgbClr>
              </a:gs>
              <a:gs pos="42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04900" y="790575"/>
            <a:ext cx="44383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PRIORIZACIÓN Y ROADMAP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330279" y="704850"/>
            <a:ext cx="4154835" cy="438150"/>
          </a:xfrm>
          <a:prstGeom prst="roundRect">
            <a:avLst>
              <a:gd name="adj" fmla="val 50000"/>
            </a:avLst>
          </a:prstGeom>
          <a:solidFill>
            <a:srgbClr val="2DD4BF">
              <a:alpha val="12000"/>
            </a:srgbClr>
          </a:solidFill>
          <a:ln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30304" y="790575"/>
            <a:ext cx="38794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ESTRATÉGICO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4900" y="1276350"/>
            <a:ext cx="17686020" cy="698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78"/>
              </a:lnSpc>
              <a:buNone/>
            </a:pPr>
            <a:r>
              <a:rPr lang="en-US" sz="5100" b="1" spc="-102" kern="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ya está construido </a:t>
            </a:r>
            <a:pPr algn="l" indent="0" marL="0">
              <a:lnSpc>
                <a:spcPct val="90078"/>
              </a:lnSpc>
              <a:buNone/>
            </a:pPr>
            <a:r>
              <a:rPr lang="en-US" sz="5100" spc="-102" kern="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Qué sigue · Qué debe esperar</a:t>
            </a:r>
            <a:endParaRPr lang="en-US" sz="5100" dirty="0"/>
          </a:p>
        </p:txBody>
      </p:sp>
      <p:sp>
        <p:nvSpPr>
          <p:cNvPr id="7" name="Text 5"/>
          <p:cNvSpPr/>
          <p:nvPr/>
        </p:nvSpPr>
        <p:spPr>
          <a:xfrm>
            <a:off x="1104900" y="2070348"/>
            <a:ext cx="1487805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88"/>
              </a:lnSpc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despliegue: primero retorno inmediato en operaciones, después modelos predictivos complejos.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 rot="10800000">
            <a:off x="1162050" y="3382417"/>
            <a:ext cx="342900" cy="222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IMPACTO ↑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 rot="10800000">
            <a:off x="1162050" y="7027218"/>
            <a:ext cx="342900" cy="2015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 vert="eaVer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IMPACTO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76400" y="2652266"/>
            <a:ext cx="7658100" cy="3236268"/>
          </a:xfrm>
          <a:prstGeom prst="roundRect">
            <a:avLst>
              <a:gd name="adj" fmla="val 5886"/>
            </a:avLst>
          </a:prstGeom>
          <a:solidFill>
            <a:srgbClr val="0F766E">
              <a:alpha val="24000"/>
            </a:srgbClr>
          </a:solidFill>
          <a:ln w="9525">
            <a:solidFill>
              <a:srgbClr val="2DD4BF">
                <a:alpha val="45000"/>
              </a:srgbClr>
            </a:solidFill>
            <a:prstDash val="solid"/>
          </a:ln>
          <a:effectLst>
            <a:outerShdw sx="100000" sy="100000" kx="0" ky="0" algn="bl" rotWithShape="0" blurRad="457200" dist="152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09775" y="3033266"/>
            <a:ext cx="48113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IMPACTO · BAJO ESFUERZO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150596" y="2947541"/>
            <a:ext cx="1850529" cy="438150"/>
          </a:xfrm>
          <a:prstGeom prst="roundRect">
            <a:avLst>
              <a:gd name="adj" fmla="val 50000"/>
            </a:avLst>
          </a:prstGeom>
          <a:solidFill>
            <a:srgbClr val="047857">
              <a:alpha val="90000"/>
            </a:srgbClr>
          </a:solidFill>
          <a:ln w="9525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50621" y="3033266"/>
            <a:ext cx="15266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OPERATIVO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 rot="2700000">
            <a:off x="2009775" y="3623816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2333625" y="3538091"/>
            <a:ext cx="699897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0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Hub central </a:t>
            </a:r>
            <a:pPr algn="l" indent="0" marL="0">
              <a:lnSpc>
                <a:spcPct val="106364"/>
              </a:lnSpc>
              <a:buNone/>
            </a:pPr>
            <a:r>
              <a:rPr lang="en-US" sz="20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trazabilidad de origen en cada lead.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 rot="2700000">
            <a:off x="2009775" y="4110484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2333625" y="4024759"/>
            <a:ext cx="6338887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0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Cuadro de mando operativo </a:t>
            </a:r>
            <a:pPr algn="l" indent="0" marL="0">
              <a:lnSpc>
                <a:spcPct val="106364"/>
              </a:lnSpc>
              <a:buNone/>
            </a:pPr>
            <a:r>
              <a:rPr lang="en-US" sz="20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visibilidad diaria.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525000" y="2652266"/>
            <a:ext cx="7658100" cy="3236268"/>
          </a:xfrm>
          <a:prstGeom prst="roundRect">
            <a:avLst>
              <a:gd name="adj" fmla="val 5886"/>
            </a:avLst>
          </a:prstGeom>
          <a:solidFill>
            <a:srgbClr val="1E293B">
              <a:alpha val="78000"/>
            </a:srgbClr>
          </a:solidFill>
          <a:ln w="9525">
            <a:solidFill>
              <a:srgbClr val="38BDF8">
                <a:alpha val="28000"/>
              </a:srgbClr>
            </a:solidFill>
            <a:prstDash val="solid"/>
          </a:ln>
          <a:effectLst>
            <a:outerShdw sx="100000" sy="100000" kx="0" ky="0" algn="bl" rotWithShape="0" blurRad="457200" dist="1524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858375" y="2947541"/>
            <a:ext cx="44159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IMPACTO · ALTO ESFUERZO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336167" y="2995166"/>
            <a:ext cx="2513558" cy="438150"/>
          </a:xfrm>
          <a:prstGeom prst="roundRect">
            <a:avLst>
              <a:gd name="adj" fmla="val 50000"/>
            </a:avLst>
          </a:prstGeom>
          <a:solidFill>
            <a:srgbClr val="38BDF8">
              <a:alpha val="18000"/>
            </a:srgbClr>
          </a:solidFill>
          <a:ln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536192" y="3080891"/>
            <a:ext cx="21897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FASE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20275" y="3652391"/>
            <a:ext cx="24765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9032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182225" y="3633341"/>
            <a:ext cx="498729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0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real entre web y newsletter.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9820275" y="4145756"/>
            <a:ext cx="24765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9032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0182225" y="4126706"/>
            <a:ext cx="606647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0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de </a:t>
            </a:r>
            <a:pPr algn="l" indent="0" marL="0">
              <a:lnSpc>
                <a:spcPct val="106364"/>
              </a:lnSpc>
              <a:buNone/>
            </a:pPr>
            <a:r>
              <a:rPr lang="en-US" sz="20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neto por ruta </a:t>
            </a:r>
            <a:pPr algn="l" indent="0" marL="0">
              <a:lnSpc>
                <a:spcPct val="106364"/>
              </a:lnSpc>
              <a:buNone/>
            </a:pPr>
            <a:r>
              <a:rPr lang="en-US" sz="20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tiempo real.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676400" y="6079034"/>
            <a:ext cx="7658100" cy="3236416"/>
          </a:xfrm>
          <a:prstGeom prst="roundRect">
            <a:avLst>
              <a:gd name="adj" fmla="val 5886"/>
            </a:avLst>
          </a:prstGeom>
          <a:solidFill>
            <a:srgbClr val="1E293B">
              <a:alpha val="50000"/>
            </a:srgbClr>
          </a:solidFill>
          <a:ln w="9525">
            <a:solidFill>
              <a:srgbClr val="94A3B8">
                <a:alpha val="16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09775" y="6460034"/>
            <a:ext cx="48427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IMPACTO · BAJO ESFUERZO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150596" y="6374309"/>
            <a:ext cx="1850529" cy="438150"/>
          </a:xfrm>
          <a:prstGeom prst="roundRect">
            <a:avLst>
              <a:gd name="adj" fmla="val 50000"/>
            </a:avLst>
          </a:prstGeom>
          <a:solidFill>
            <a:srgbClr val="047857">
              <a:alpha val="28000"/>
            </a:srgbClr>
          </a:solidFill>
          <a:ln w="9525">
            <a:solidFill>
              <a:srgbClr val="34D399">
                <a:alpha val="3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50621" y="6460034"/>
            <a:ext cx="15266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OPERATIVO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 rot="2700000">
            <a:off x="2009775" y="7050584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94A3B8"/>
          </a:solidFill>
          <a:ln/>
        </p:spPr>
      </p:sp>
      <p:sp>
        <p:nvSpPr>
          <p:cNvPr id="31" name="Text 29"/>
          <p:cNvSpPr/>
          <p:nvPr/>
        </p:nvSpPr>
        <p:spPr>
          <a:xfrm>
            <a:off x="2333625" y="6964859"/>
            <a:ext cx="6867525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02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interna (RAG) y automatización de borradores de contenido.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9525000" y="6079034"/>
            <a:ext cx="7658100" cy="3236416"/>
          </a:xfrm>
          <a:prstGeom prst="roundRect">
            <a:avLst>
              <a:gd name="adj" fmla="val 5886"/>
            </a:avLst>
          </a:prstGeom>
          <a:solidFill>
            <a:srgbClr val="020617">
              <a:alpha val="50000"/>
            </a:srgbClr>
          </a:solidFill>
          <a:ln w="9525">
            <a:solidFill>
              <a:srgbClr val="94A3B8">
                <a:alpha val="12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58375" y="6460034"/>
            <a:ext cx="48008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IMPACTO · ALTO ESFUERZO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311884" y="6374309"/>
            <a:ext cx="1537841" cy="438150"/>
          </a:xfrm>
          <a:prstGeom prst="roundRect">
            <a:avLst>
              <a:gd name="adj" fmla="val 50000"/>
            </a:avLst>
          </a:prstGeom>
          <a:solidFill>
            <a:srgbClr val="94A3B8">
              <a:alpha val="14000"/>
            </a:srgbClr>
          </a:solidFill>
          <a:ln w="9525">
            <a:solidFill>
              <a:srgbClr val="94A3B8">
                <a:alpha val="26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511909" y="6460034"/>
            <a:ext cx="12139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HOLD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 rot="2700000">
            <a:off x="9858375" y="7050584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10182225" y="6964859"/>
            <a:ext cx="698849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20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predictivos de ocupación y precios dinámicos.</a:t>
            </a:r>
            <a:endParaRPr lang="en-US" sz="2025" dirty="0"/>
          </a:p>
        </p:txBody>
      </p:sp>
      <p:sp>
        <p:nvSpPr>
          <p:cNvPr id="38" name="Shape 36"/>
          <p:cNvSpPr/>
          <p:nvPr/>
        </p:nvSpPr>
        <p:spPr>
          <a:xfrm>
            <a:off x="9858375" y="8197453"/>
            <a:ext cx="6991350" cy="822722"/>
          </a:xfrm>
          <a:custGeom>
            <a:avLst/>
            <a:gdLst/>
            <a:ahLst/>
            <a:cxnLst/>
            <a:rect l="l" t="t" r="r" b="b"/>
            <a:pathLst>
              <a:path w="6991350" h="822722">
                <a:moveTo>
                  <a:pt x="0" y="0"/>
                </a:moveTo>
                <a:lnTo>
                  <a:pt x="6896100" y="0"/>
                </a:lnTo>
                <a:arcTo hR="95250" wR="95250" stAng="16200000" swAng="5400000"/>
                <a:lnTo>
                  <a:pt x="6991350" y="727472"/>
                </a:lnTo>
                <a:arcTo hR="95250" wR="95250" stAng="0" swAng="5400000"/>
                <a:lnTo>
                  <a:pt x="0" y="822722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858375" y="8197453"/>
            <a:ext cx="28575" cy="82272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10039350" y="8311753"/>
            <a:ext cx="7020116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técnica: </a:t>
            </a:r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94A3B8"/>
                </a:solidFill>
                <a:highlight>
                  <a:srgbClr val="FEF7E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solo tiene sentido con la gobernanza del dato madura.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676400" y="9467850"/>
            <a:ext cx="24879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ESFUERZO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166741" y="9596438"/>
            <a:ext cx="10204549" cy="9525"/>
          </a:xfrm>
          <a:prstGeom prst="rect">
            <a:avLst/>
          </a:prstGeom>
          <a:gradFill rotWithShape="1">
            <a:gsLst>
              <a:gs pos="0">
                <a:srgbClr val="94A3B8">
                  <a:alpha val="35000"/>
                </a:srgbClr>
              </a:gs>
              <a:gs pos="100000">
                <a:srgbClr val="94A3B8">
                  <a:alpha val="15000"/>
                </a:srgbClr>
              </a:gs>
            </a:gsLst>
            <a:lin ang="0" scaled="0"/>
          </a:gradFill>
          <a:ln/>
        </p:spPr>
      </p:sp>
      <p:sp>
        <p:nvSpPr>
          <p:cNvPr id="43" name="Text 41"/>
          <p:cNvSpPr/>
          <p:nvPr/>
        </p:nvSpPr>
        <p:spPr>
          <a:xfrm>
            <a:off x="14599890" y="9467850"/>
            <a:ext cx="28415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ESFUERZO →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20000"/>
                </a:srgbClr>
              </a:gs>
              <a:gs pos="44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04900" y="752475"/>
            <a:ext cx="26152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72929" y="666750"/>
            <a:ext cx="3398639" cy="438150"/>
          </a:xfrm>
          <a:prstGeom prst="roundRect">
            <a:avLst>
              <a:gd name="adj" fmla="val 50000"/>
            </a:avLst>
          </a:prstGeom>
          <a:solidFill>
            <a:srgbClr val="B91C1C">
              <a:alpha val="16000"/>
            </a:srgbClr>
          </a:solidFill>
          <a:ln w="9525">
            <a:solidFill>
              <a:srgbClr val="F87171">
                <a:alpha val="3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3872954" y="82867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4101554" y="752475"/>
            <a:ext cx="285308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UNA MAQUETA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04900" y="1238250"/>
            <a:ext cx="10288086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61"/>
              </a:lnSpc>
              <a:buNone/>
            </a:pPr>
            <a:r>
              <a:rPr lang="en-US" sz="5400" b="1" spc="-108" kern="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 funciona. </a:t>
            </a:r>
            <a:pPr algn="l" indent="0" marL="0">
              <a:lnSpc>
                <a:spcPct val="89561"/>
              </a:lnSpc>
              <a:buNone/>
            </a:pPr>
            <a:r>
              <a:rPr lang="en-US" sz="5400" b="1" i="1" spc="-108" kern="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puede tocar hoy.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14411325" y="666750"/>
            <a:ext cx="2771775" cy="628650"/>
          </a:xfrm>
          <a:prstGeom prst="roundRect">
            <a:avLst>
              <a:gd name="adj" fmla="val 50000"/>
            </a:avLst>
          </a:prstGeom>
          <a:solidFill>
            <a:srgbClr val="2DD4BF">
              <a:alpha val="12000"/>
            </a:srgbClr>
          </a:solidFill>
          <a:ln w="9525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87550" y="914400"/>
            <a:ext cx="133350" cy="13335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14954250" y="828675"/>
            <a:ext cx="20288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30mps.vercel.app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04900" y="2185392"/>
            <a:ext cx="7934325" cy="3768923"/>
          </a:xfrm>
          <a:prstGeom prst="roundRect">
            <a:avLst>
              <a:gd name="adj" fmla="val 5560"/>
            </a:avLst>
          </a:prstGeom>
          <a:solidFill>
            <a:srgbClr val="0F766E">
              <a:alpha val="24000"/>
            </a:srgbClr>
          </a:solidFill>
          <a:ln w="9525">
            <a:solidFill>
              <a:srgbClr val="2DD4BF">
                <a:alpha val="40000"/>
              </a:srgbClr>
            </a:solidFill>
            <a:prstDash val="solid"/>
          </a:ln>
          <a:effectLst>
            <a:outerShdw sx="100000" sy="100000" kx="0" ky="0" algn="bl" rotWithShape="0" blurRad="495300" dist="171450" dir="5400000">
              <a:srgbClr val="000000">
                <a:alpha val="3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86700" y="2328267"/>
            <a:ext cx="9525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600" b="1" dirty="0">
                <a:solidFill>
                  <a:srgbClr val="94A3B8">
                    <a:alpha val="14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600" dirty="0"/>
          </a:p>
        </p:txBody>
      </p:sp>
      <p:sp>
        <p:nvSpPr>
          <p:cNvPr id="13" name="Shape 11"/>
          <p:cNvSpPr/>
          <p:nvPr/>
        </p:nvSpPr>
        <p:spPr>
          <a:xfrm>
            <a:off x="1476375" y="2518767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2DD4BF">
              <a:alpha val="16000"/>
            </a:srgbClr>
          </a:solidFill>
          <a:ln w="9525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1685925" y="2728317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1476375" y="3337917"/>
            <a:ext cx="7910512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91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de negocio centralizada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476375" y="3922663"/>
            <a:ext cx="7407116" cy="1092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75"/>
              </a:lnSpc>
              <a:buNone/>
            </a:pPr>
            <a:r>
              <a:rPr lang="en-US" sz="19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Cuadro de mando + Data Hub. </a:t>
            </a:r>
            <a:pPr algn="l" indent="0" marL="0">
              <a:lnSpc>
                <a:spcPct val="115375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hueco a 1M €, procedencia de leads y margen por salida en una sola pantalla. Importación directa por CSV desde Brevo o Excel.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248775" y="2185392"/>
            <a:ext cx="7934325" cy="3768923"/>
          </a:xfrm>
          <a:prstGeom prst="roundRect">
            <a:avLst>
              <a:gd name="adj" fmla="val 5560"/>
            </a:avLst>
          </a:prstGeom>
          <a:solidFill>
            <a:srgbClr val="0369A1">
              <a:alpha val="20000"/>
            </a:srgbClr>
          </a:solidFill>
          <a:ln w="9525">
            <a:solidFill>
              <a:srgbClr val="38BDF8">
                <a:alpha val="34000"/>
              </a:srgbClr>
            </a:solidFill>
            <a:prstDash val="solid"/>
          </a:ln>
          <a:effectLst>
            <a:outerShdw sx="100000" sy="100000" kx="0" ky="0" algn="bl" rotWithShape="0" blurRad="495300" dist="171450" dir="5400000">
              <a:srgbClr val="000000">
                <a:alpha val="3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5925800" y="2328267"/>
            <a:ext cx="105727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600" b="1" dirty="0">
                <a:solidFill>
                  <a:srgbClr val="94A3B8">
                    <a:alpha val="14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600" dirty="0"/>
          </a:p>
        </p:txBody>
      </p:sp>
      <p:sp>
        <p:nvSpPr>
          <p:cNvPr id="19" name="Shape 17"/>
          <p:cNvSpPr/>
          <p:nvPr/>
        </p:nvSpPr>
        <p:spPr>
          <a:xfrm>
            <a:off x="9620250" y="2518767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38BDF8">
              <a:alpha val="16000"/>
            </a:srgbClr>
          </a:solidFill>
          <a:ln w="9525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9829800" y="2728317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9620250" y="3337917"/>
            <a:ext cx="7910512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91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comercial (CRM 360º)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620250" y="3922663"/>
            <a:ext cx="7407116" cy="1092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375"/>
              </a:lnSpc>
              <a:buNone/>
            </a:pPr>
            <a:r>
              <a:rPr lang="en-US" sz="19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+ scoring. </a:t>
            </a:r>
            <a:pPr algn="l" indent="0" marL="0">
              <a:lnSpc>
                <a:spcPct val="115375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completa de clientes VIP, dormidos y en riesgo. Cola priorizada de «contactar este mes» con razones legibles. La IA ordena; vuestro equipo ejecuta.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104900" y="6163866"/>
            <a:ext cx="3876675" cy="3589734"/>
          </a:xfrm>
          <a:prstGeom prst="roundRect">
            <a:avLst>
              <a:gd name="adj" fmla="val 5837"/>
            </a:avLst>
          </a:prstGeom>
          <a:solidFill>
            <a:srgbClr val="1E293B">
              <a:alpha val="58000"/>
            </a:srgbClr>
          </a:solidFill>
          <a:ln w="9525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419100" dist="152400" dir="54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400175" y="6440091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2DD4BF">
              <a:alpha val="12000"/>
            </a:srgbClr>
          </a:solidFill>
          <a:ln w="9525">
            <a:solidFill>
              <a:srgbClr val="2DD4BF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1571625" y="6611541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1400175" y="7106841"/>
            <a:ext cx="3614738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86"/>
              </a:lnSpc>
              <a:buNone/>
            </a:pPr>
            <a:r>
              <a:rPr lang="en-US" sz="21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 y logística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1400175" y="7576840"/>
            <a:ext cx="3384709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cada salida y checklist de preparación del viaje.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172075" y="6163866"/>
            <a:ext cx="3876675" cy="3589734"/>
          </a:xfrm>
          <a:prstGeom prst="roundRect">
            <a:avLst>
              <a:gd name="adj" fmla="val 5837"/>
            </a:avLst>
          </a:prstGeom>
          <a:solidFill>
            <a:srgbClr val="1E293B">
              <a:alpha val="58000"/>
            </a:srgbClr>
          </a:solidFill>
          <a:ln w="9525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419100" dist="152400" dir="54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67350" y="6440091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5638800" y="6611541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38BDF8"/>
          </a:solidFill>
          <a:ln/>
        </p:spPr>
      </p:sp>
      <p:sp>
        <p:nvSpPr>
          <p:cNvPr id="31" name="Text 29"/>
          <p:cNvSpPr/>
          <p:nvPr/>
        </p:nvSpPr>
        <p:spPr>
          <a:xfrm>
            <a:off x="5467350" y="7106841"/>
            <a:ext cx="3614738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86"/>
              </a:lnSpc>
              <a:buNone/>
            </a:pPr>
            <a:r>
              <a:rPr lang="en-US" sz="21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financiera</a:t>
            </a:r>
            <a:endParaRPr lang="en-US" sz="2175" dirty="0"/>
          </a:p>
        </p:txBody>
      </p:sp>
      <p:sp>
        <p:nvSpPr>
          <p:cNvPr id="32" name="Text 30"/>
          <p:cNvSpPr/>
          <p:nvPr/>
        </p:nvSpPr>
        <p:spPr>
          <a:xfrm>
            <a:off x="5467350" y="7576840"/>
            <a:ext cx="338470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REAV y PDF, con export directo para la gestoría desde el Hub.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239250" y="6163866"/>
            <a:ext cx="3876675" cy="3589734"/>
          </a:xfrm>
          <a:prstGeom prst="roundRect">
            <a:avLst>
              <a:gd name="adj" fmla="val 5837"/>
            </a:avLst>
          </a:prstGeom>
          <a:solidFill>
            <a:srgbClr val="1E293B">
              <a:alpha val="58000"/>
            </a:srgbClr>
          </a:solidFill>
          <a:ln w="9525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419100" dist="152400" dir="54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534525" y="6440091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A78BFA">
              <a:alpha val="12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700000">
            <a:off x="9705975" y="6611541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A78BFA"/>
          </a:solidFill>
          <a:ln/>
        </p:spPr>
      </p:sp>
      <p:sp>
        <p:nvSpPr>
          <p:cNvPr id="36" name="Text 34"/>
          <p:cNvSpPr/>
          <p:nvPr/>
        </p:nvSpPr>
        <p:spPr>
          <a:xfrm>
            <a:off x="9534525" y="7106841"/>
            <a:ext cx="3614738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86"/>
              </a:lnSpc>
              <a:buNone/>
            </a:pPr>
            <a:r>
              <a:rPr lang="en-US" sz="21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de contenidos</a:t>
            </a:r>
            <a:endParaRPr lang="en-US" sz="2175" dirty="0"/>
          </a:p>
        </p:txBody>
      </p:sp>
      <p:sp>
        <p:nvSpPr>
          <p:cNvPr id="37" name="Text 35"/>
          <p:cNvSpPr/>
          <p:nvPr/>
        </p:nvSpPr>
        <p:spPr>
          <a:xfrm>
            <a:off x="9534525" y="7576840"/>
            <a:ext cx="3384709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Borradores con la voz de 30 MPS y respuestas internas con fuentes.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3306425" y="6163866"/>
            <a:ext cx="3876675" cy="3589734"/>
          </a:xfrm>
          <a:prstGeom prst="roundRect">
            <a:avLst>
              <a:gd name="adj" fmla="val 5837"/>
            </a:avLst>
          </a:prstGeom>
          <a:solidFill>
            <a:srgbClr val="1E293B">
              <a:alpha val="58000"/>
            </a:srgbClr>
          </a:solidFill>
          <a:ln w="9525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419100" dist="152400" dir="5400000">
              <a:srgbClr val="000000">
                <a:alpha val="2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3601700" y="6440091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>
                <a:alpha val="2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700000">
            <a:off x="13773150" y="6611541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/>
        </p:spPr>
      </p:sp>
      <p:sp>
        <p:nvSpPr>
          <p:cNvPr id="41" name="Text 39"/>
          <p:cNvSpPr/>
          <p:nvPr/>
        </p:nvSpPr>
        <p:spPr>
          <a:xfrm>
            <a:off x="13601700" y="7106841"/>
            <a:ext cx="3384709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86"/>
              </a:lnSpc>
              <a:buNone/>
            </a:pPr>
            <a:r>
              <a:rPr lang="en-US" sz="21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Automatizaciones silenciosas</a:t>
            </a:r>
            <a:endParaRPr lang="en-US" sz="2175" dirty="0"/>
          </a:p>
        </p:txBody>
      </p:sp>
      <p:sp>
        <p:nvSpPr>
          <p:cNvPr id="42" name="Text 40"/>
          <p:cNvSpPr/>
          <p:nvPr/>
        </p:nvSpPr>
        <p:spPr>
          <a:xfrm>
            <a:off x="13601700" y="7894439"/>
            <a:ext cx="338470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→ sistema → aviso interno. Nunca al viajero.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20000"/>
                </a:srgbClr>
              </a:gs>
              <a:gs pos="44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04900" y="752475"/>
            <a:ext cx="44571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PIEZA OPERATIVA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347395" y="666750"/>
            <a:ext cx="1659285" cy="438150"/>
          </a:xfrm>
          <a:prstGeom prst="roundRect">
            <a:avLst>
              <a:gd name="adj" fmla="val 50000"/>
            </a:avLst>
          </a:prstGeom>
          <a:solidFill>
            <a:srgbClr val="2DD4BF">
              <a:alpha val="12000"/>
            </a:srgbClr>
          </a:solidFill>
          <a:ln w="9525">
            <a:solidFill>
              <a:srgbClr val="2DD4BF">
                <a:alpha val="3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47420" y="752475"/>
            <a:ext cx="13354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HUB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4900" y="1238250"/>
            <a:ext cx="11868555" cy="1359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78"/>
              </a:lnSpc>
              <a:buNone/>
            </a:pPr>
            <a:r>
              <a:rPr lang="en-US" sz="5100" b="1" spc="-102" kern="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negocio centralizado en </a:t>
            </a:r>
            <a:pPr algn="l" indent="0" marL="0">
              <a:lnSpc>
                <a:spcPct val="90078"/>
              </a:lnSpc>
              <a:buNone/>
            </a:pPr>
            <a:r>
              <a:rPr lang="en-US" sz="5100" i="1" spc="-102" kern="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único núcleo</a:t>
            </a:r>
            <a:endParaRPr lang="en-US" sz="5100" dirty="0"/>
          </a:p>
        </p:txBody>
      </p:sp>
      <p:sp>
        <p:nvSpPr>
          <p:cNvPr id="7" name="Shape 5"/>
          <p:cNvSpPr/>
          <p:nvPr/>
        </p:nvSpPr>
        <p:spPr>
          <a:xfrm>
            <a:off x="13008769" y="666750"/>
            <a:ext cx="4174331" cy="590550"/>
          </a:xfrm>
          <a:prstGeom prst="roundRect">
            <a:avLst>
              <a:gd name="adj" fmla="val 50000"/>
            </a:avLst>
          </a:prstGeom>
          <a:solidFill>
            <a:srgbClr val="047857">
              <a:alpha val="18000"/>
            </a:srgbClr>
          </a:solidFill>
          <a:ln w="9525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84994" y="895350"/>
            <a:ext cx="133350" cy="133350"/>
          </a:xfrm>
          <a:prstGeom prst="ellipse">
            <a:avLst/>
          </a:prstGeom>
          <a:solidFill>
            <a:srgbClr val="34D399">
              <a:alpha val="99000"/>
            </a:srgbClr>
          </a:solidFill>
          <a:ln/>
          <a:effectLst>
            <a:outerShdw sx="100000" sy="100000" kx="0" ky="0" algn="bl" rotWithShape="0" blurRad="101600" dist="50800" dir="16200000">
              <a:srgbClr val="34D399">
                <a:alpha val="53321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551694" y="828675"/>
            <a:ext cx="345583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YA PERSISTEN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04900" y="2807196"/>
            <a:ext cx="8084195" cy="6946404"/>
          </a:xfrm>
          <a:prstGeom prst="roundRect">
            <a:avLst>
              <a:gd name="adj" fmla="val 3017"/>
            </a:avLst>
          </a:prstGeom>
          <a:solidFill>
            <a:srgbClr val="1E293B">
              <a:alpha val="60000"/>
            </a:srgbClr>
          </a:solidFill>
          <a:ln/>
          <a:effectLst>
            <a:outerShdw sx="100000" sy="100000" kx="0" ky="0" algn="bl" rotWithShape="0" blurRad="495300" dist="171450" dir="5400000">
              <a:srgbClr val="000000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04900" y="9744075"/>
            <a:ext cx="8084195" cy="9525"/>
          </a:xfrm>
          <a:prstGeom prst="rect">
            <a:avLst/>
          </a:prstGeom>
          <a:solidFill>
            <a:srgbClr val="94A3B8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4900" y="2807196"/>
            <a:ext cx="8084195" cy="2857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900" y="2807196"/>
            <a:ext cx="9525" cy="6946404"/>
          </a:xfrm>
          <a:prstGeom prst="rect">
            <a:avLst/>
          </a:prstGeom>
          <a:solidFill>
            <a:srgbClr val="94A3B8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79570" y="2807196"/>
            <a:ext cx="9525" cy="6946404"/>
          </a:xfrm>
          <a:prstGeom prst="rect">
            <a:avLst/>
          </a:prstGeom>
          <a:solidFill>
            <a:srgbClr val="94A3B8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76375" y="323284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2DD4BF">
              <a:alpha val="16000"/>
            </a:srgbClr>
          </a:solidFill>
          <a:ln w="9525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1676400" y="343287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2257425" y="3178671"/>
            <a:ext cx="4431983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91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257425" y="3611017"/>
            <a:ext cx="44319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FUENTE DE VERDAD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76375" y="4106317"/>
            <a:ext cx="7561482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3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acabó rastrear datos en cuatro excels desactualizados. </a:t>
            </a:r>
            <a:pPr algn="l" indent="0" marL="0">
              <a:lnSpc>
                <a:spcPct val="117813"/>
              </a:lnSpc>
              <a:buNone/>
            </a:pPr>
            <a:r>
              <a:rPr lang="en-US" sz="19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Leads, clientes históricos, reservas y facturación </a:t>
            </a:r>
            <a:pPr algn="l" indent="0" marL="0">
              <a:lnSpc>
                <a:spcPct val="117813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conviven en una única base relacional.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476375" y="5411837"/>
            <a:ext cx="7561482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3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silos: cada lead entra mapeado automáticamente con su canal de origen real.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476375" y="7820025"/>
            <a:ext cx="80753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TECNOLÓGICA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76375" y="8239125"/>
            <a:ext cx="1885950" cy="514350"/>
          </a:xfrm>
          <a:prstGeom prst="roundRect">
            <a:avLst>
              <a:gd name="adj" fmla="val 22222"/>
            </a:avLst>
          </a:prstGeom>
          <a:solidFill>
            <a:srgbClr val="1E293B">
              <a:alpha val="72000"/>
            </a:srgbClr>
          </a:solidFill>
          <a:ln w="9525">
            <a:solidFill>
              <a:srgbClr val="94A3B8">
                <a:alpha val="2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1676400" y="8429625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1924050" y="8362950"/>
            <a:ext cx="13144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495675" y="8239125"/>
            <a:ext cx="2790825" cy="514350"/>
          </a:xfrm>
          <a:prstGeom prst="roundRect">
            <a:avLst>
              <a:gd name="adj" fmla="val 22222"/>
            </a:avLst>
          </a:prstGeom>
          <a:solidFill>
            <a:srgbClr val="1E293B">
              <a:alpha val="72000"/>
            </a:srgbClr>
          </a:solidFill>
          <a:ln w="9525">
            <a:solidFill>
              <a:srgbClr val="94A3B8">
                <a:alpha val="2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3695700" y="8429625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</p:sp>
      <p:sp>
        <p:nvSpPr>
          <p:cNvPr id="27" name="Text 25"/>
          <p:cNvSpPr/>
          <p:nvPr/>
        </p:nvSpPr>
        <p:spPr>
          <a:xfrm>
            <a:off x="3943350" y="8362950"/>
            <a:ext cx="22193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/ Postgres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476375" y="8886825"/>
            <a:ext cx="2466975" cy="514350"/>
          </a:xfrm>
          <a:prstGeom prst="roundRect">
            <a:avLst>
              <a:gd name="adj" fmla="val 22222"/>
            </a:avLst>
          </a:prstGeom>
          <a:solidFill>
            <a:srgbClr val="1E293B">
              <a:alpha val="72000"/>
            </a:srgbClr>
          </a:solidFill>
          <a:ln w="9525">
            <a:solidFill>
              <a:srgbClr val="94A3B8">
                <a:alpha val="2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700000">
            <a:off x="1676400" y="9077325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</p:sp>
      <p:sp>
        <p:nvSpPr>
          <p:cNvPr id="30" name="Text 28"/>
          <p:cNvSpPr/>
          <p:nvPr/>
        </p:nvSpPr>
        <p:spPr>
          <a:xfrm>
            <a:off x="1924050" y="9010650"/>
            <a:ext cx="18954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CSV Brevo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076700" y="8886825"/>
            <a:ext cx="2619375" cy="514350"/>
          </a:xfrm>
          <a:prstGeom prst="roundRect">
            <a:avLst>
              <a:gd name="adj" fmla="val 22222"/>
            </a:avLst>
          </a:prstGeom>
          <a:solidFill>
            <a:srgbClr val="1E293B">
              <a:alpha val="72000"/>
            </a:srgbClr>
          </a:solidFill>
          <a:ln w="9525">
            <a:solidFill>
              <a:srgbClr val="94A3B8">
                <a:alpha val="2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4276725" y="9077325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</p:sp>
      <p:sp>
        <p:nvSpPr>
          <p:cNvPr id="33" name="Text 31"/>
          <p:cNvSpPr/>
          <p:nvPr/>
        </p:nvSpPr>
        <p:spPr>
          <a:xfrm>
            <a:off x="4524375" y="9010650"/>
            <a:ext cx="20478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Auto-backup JSON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474845" y="2807196"/>
            <a:ext cx="84790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RETORNO OPERATIVO DE LA CENTRALIZACIÓN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474845" y="3245346"/>
            <a:ext cx="7708255" cy="2055019"/>
          </a:xfrm>
          <a:prstGeom prst="roundRect">
            <a:avLst>
              <a:gd name="adj" fmla="val 927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419100" dist="152400" dir="5400000">
              <a:srgbClr val="000000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789170" y="3987105"/>
            <a:ext cx="2409825" cy="609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4500" b="1" spc="-135" kern="0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90 %</a:t>
            </a:r>
            <a:endParaRPr lang="en-US" sz="4500" dirty="0"/>
          </a:p>
        </p:txBody>
      </p:sp>
      <p:sp>
        <p:nvSpPr>
          <p:cNvPr id="37" name="Text 35"/>
          <p:cNvSpPr/>
          <p:nvPr/>
        </p:nvSpPr>
        <p:spPr>
          <a:xfrm>
            <a:off x="12265670" y="3767435"/>
            <a:ext cx="5063416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86"/>
              </a:lnSpc>
              <a:buNone/>
            </a:pPr>
            <a:r>
              <a:rPr lang="en-US" sz="21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de origen absoluta</a:t>
            </a:r>
            <a:endParaRPr lang="en-US" sz="2175" dirty="0"/>
          </a:p>
        </p:txBody>
      </p:sp>
      <p:sp>
        <p:nvSpPr>
          <p:cNvPr id="38" name="Text 36"/>
          <p:cNvSpPr/>
          <p:nvPr/>
        </p:nvSpPr>
        <p:spPr>
          <a:xfrm>
            <a:off x="12265670" y="4161234"/>
            <a:ext cx="4741198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leads con origen registrado a 60 días. Fin de la ceguera de captación.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474845" y="5471815"/>
            <a:ext cx="7708255" cy="2055168"/>
          </a:xfrm>
          <a:prstGeom prst="roundRect">
            <a:avLst>
              <a:gd name="adj" fmla="val 9269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419100" dist="152400" dir="5400000">
              <a:srgbClr val="000000">
                <a:alpha val="2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789170" y="6261199"/>
            <a:ext cx="2409825" cy="514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207"/>
              </a:lnSpc>
              <a:buNone/>
            </a:pPr>
            <a:r>
              <a:rPr lang="en-US" sz="3750" b="1" spc="-112" kern="0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30 min</a:t>
            </a:r>
            <a:endParaRPr lang="en-US" sz="3750" dirty="0"/>
          </a:p>
        </p:txBody>
      </p:sp>
      <p:sp>
        <p:nvSpPr>
          <p:cNvPr id="41" name="Text 39"/>
          <p:cNvSpPr/>
          <p:nvPr/>
        </p:nvSpPr>
        <p:spPr>
          <a:xfrm>
            <a:off x="12265670" y="5792093"/>
            <a:ext cx="5063416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86"/>
              </a:lnSpc>
              <a:buNone/>
            </a:pPr>
            <a:r>
              <a:rPr lang="en-US" sz="21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mensual de datos</a:t>
            </a:r>
            <a:endParaRPr lang="en-US" sz="2175" dirty="0"/>
          </a:p>
        </p:txBody>
      </p:sp>
      <p:sp>
        <p:nvSpPr>
          <p:cNvPr id="42" name="Text 40"/>
          <p:cNvSpPr/>
          <p:nvPr/>
        </p:nvSpPr>
        <p:spPr>
          <a:xfrm>
            <a:off x="12265670" y="6185892"/>
            <a:ext cx="4741198" cy="105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Consolidación de finanzas, ocupación y ventas casi en tiempo real. </a:t>
            </a:r>
            <a:pPr algn="l" indent="0" marL="0">
              <a:lnSpc>
                <a:spcPct val="115714"/>
              </a:lnSpc>
              <a:buNone/>
            </a:pPr>
            <a:r>
              <a:rPr lang="en-US" sz="1800" b="1" dirty="0">
                <a:solidFill>
                  <a:srgbClr val="F87171"/>
                </a:solidFill>
                <a:highlight>
                  <a:srgbClr val="F1D2D2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Hoy no existe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474845" y="7698432"/>
            <a:ext cx="7708255" cy="2055168"/>
          </a:xfrm>
          <a:prstGeom prst="roundRect">
            <a:avLst>
              <a:gd name="adj" fmla="val 9269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419100" dist="152400" dir="5400000">
              <a:srgbClr val="000000">
                <a:alpha val="2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789170" y="8440192"/>
            <a:ext cx="2409825" cy="609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4500" b="1" spc="-135" kern="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min</a:t>
            </a:r>
            <a:endParaRPr lang="en-US" sz="4500" dirty="0"/>
          </a:p>
        </p:txBody>
      </p:sp>
      <p:sp>
        <p:nvSpPr>
          <p:cNvPr id="45" name="Text 43"/>
          <p:cNvSpPr/>
          <p:nvPr/>
        </p:nvSpPr>
        <p:spPr>
          <a:xfrm>
            <a:off x="12265670" y="8066336"/>
            <a:ext cx="5063416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86"/>
              </a:lnSpc>
              <a:buNone/>
            </a:pPr>
            <a:r>
              <a:rPr lang="en-US" sz="21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Rutina semanal de mantenimiento</a:t>
            </a:r>
            <a:endParaRPr lang="en-US" sz="2175" dirty="0"/>
          </a:p>
        </p:txBody>
      </p:sp>
      <p:sp>
        <p:nvSpPr>
          <p:cNvPr id="46" name="Text 44"/>
          <p:cNvSpPr/>
          <p:nvPr/>
        </p:nvSpPr>
        <p:spPr>
          <a:xfrm>
            <a:off x="12265670" y="8460135"/>
            <a:ext cx="4741198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Subida de CSV y gestión sin fricciones: Laura opera al 100 % sin depender de un perfil técnico.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F766E">
                  <a:alpha val="22000"/>
                </a:srgbClr>
              </a:gs>
              <a:gs pos="42000">
                <a:srgbClr val="0F766E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04900" y="752475"/>
            <a:ext cx="75228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FASE · INTELIGENCIA FINANCIERA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34350" y="666750"/>
            <a:ext cx="2809875" cy="438150"/>
          </a:xfrm>
          <a:prstGeom prst="roundRect">
            <a:avLst>
              <a:gd name="adj" fmla="val 50000"/>
            </a:avLst>
          </a:prstGeom>
          <a:solidFill>
            <a:srgbClr val="0369A1">
              <a:alpha val="12000"/>
            </a:srgbClr>
          </a:solidFill>
          <a:ln w="9525">
            <a:solidFill>
              <a:srgbClr val="0369A1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4375" y="752475"/>
            <a:ext cx="24941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DATOS VIVOS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4900" y="1238250"/>
            <a:ext cx="10925741" cy="698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78"/>
              </a:lnSpc>
              <a:buNone/>
            </a:pPr>
            <a:r>
              <a:rPr lang="en-US" sz="5100" b="1" spc="-102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Simulador de </a:t>
            </a:r>
            <a:pPr algn="l" indent="0" marL="0">
              <a:lnSpc>
                <a:spcPct val="90078"/>
              </a:lnSpc>
              <a:buNone/>
            </a:pPr>
            <a:r>
              <a:rPr lang="en-US" sz="5100" i="1" spc="-102" kern="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márgenes y escenarios</a:t>
            </a:r>
            <a:endParaRPr lang="en-US" sz="5100" dirty="0"/>
          </a:p>
        </p:txBody>
      </p:sp>
      <p:sp>
        <p:nvSpPr>
          <p:cNvPr id="7" name="Shape 5"/>
          <p:cNvSpPr/>
          <p:nvPr/>
        </p:nvSpPr>
        <p:spPr>
          <a:xfrm>
            <a:off x="12943284" y="666750"/>
            <a:ext cx="4239816" cy="590550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9525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3219509" y="8953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0369A1"/>
          </a:solidFill>
          <a:ln/>
        </p:spPr>
      </p:sp>
      <p:sp>
        <p:nvSpPr>
          <p:cNvPr id="9" name="Text 7"/>
          <p:cNvSpPr/>
          <p:nvPr/>
        </p:nvSpPr>
        <p:spPr>
          <a:xfrm>
            <a:off x="13486209" y="828675"/>
            <a:ext cx="352328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DESPLIEGUE: 2–3 SEMANAS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04900" y="2146548"/>
            <a:ext cx="8516689" cy="7607052"/>
          </a:xfrm>
          <a:prstGeom prst="roundRect">
            <a:avLst>
              <a:gd name="adj" fmla="val 2755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57325" y="2098923"/>
            <a:ext cx="66675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09"/>
              </a:lnSpc>
              <a:buNone/>
            </a:pPr>
            <a:r>
              <a:rPr lang="en-US" sz="11250" dirty="0">
                <a:solidFill>
                  <a:srgbClr val="0F766E">
                    <a:alpha val="1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1250" dirty="0"/>
          </a:p>
        </p:txBody>
      </p:sp>
      <p:sp>
        <p:nvSpPr>
          <p:cNvPr id="12" name="Text 10"/>
          <p:cNvSpPr/>
          <p:nvPr/>
        </p:nvSpPr>
        <p:spPr>
          <a:xfrm>
            <a:off x="1533525" y="3070473"/>
            <a:ext cx="84253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DECISIÓN CLAVE DEL PRICING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33525" y="3584823"/>
            <a:ext cx="7889223" cy="1858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774"/>
              </a:lnSpc>
              <a:buNone/>
            </a:pPr>
            <a:r>
              <a:rPr lang="en-US" sz="4050" b="1" spc="-61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«Si subo el precio un 6 % y pierdo una plaza, </a:t>
            </a:r>
            <a:pPr algn="l" indent="0" marL="0">
              <a:lnSpc>
                <a:spcPct val="102774"/>
              </a:lnSpc>
              <a:buNone/>
            </a:pPr>
            <a:r>
              <a:rPr lang="en-US" sz="4050" i="1" spc="-61" kern="0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¿gano o pierdo dinero real? </a:t>
            </a:r>
            <a:pPr algn="l" indent="0" marL="0">
              <a:lnSpc>
                <a:spcPct val="102774"/>
              </a:lnSpc>
              <a:buNone/>
            </a:pPr>
            <a:r>
              <a:rPr lang="en-US" sz="4050" b="1" spc="-61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</a:t>
            </a:r>
            <a:endParaRPr lang="en-US" sz="4050" dirty="0"/>
          </a:p>
        </p:txBody>
      </p:sp>
      <p:sp>
        <p:nvSpPr>
          <p:cNvPr id="14" name="Shape 12"/>
          <p:cNvSpPr/>
          <p:nvPr/>
        </p:nvSpPr>
        <p:spPr>
          <a:xfrm>
            <a:off x="1533525" y="7981950"/>
            <a:ext cx="7659439" cy="9525"/>
          </a:xfrm>
          <a:prstGeom prst="rect">
            <a:avLst/>
          </a:prstGeom>
          <a:solidFill>
            <a:srgbClr val="475569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33525" y="8181975"/>
            <a:ext cx="4057650" cy="514350"/>
          </a:xfrm>
          <a:prstGeom prst="roundRect">
            <a:avLst>
              <a:gd name="adj" fmla="val 50000"/>
            </a:avLst>
          </a:prstGeom>
          <a:solidFill>
            <a:srgbClr val="FFFFFF">
              <a:alpha val="72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1752600" y="8372475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2000250" y="8305800"/>
            <a:ext cx="347300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da el contexto en 30 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33525" y="8848725"/>
            <a:ext cx="4105275" cy="514350"/>
          </a:xfrm>
          <a:prstGeom prst="roundRect">
            <a:avLst>
              <a:gd name="adj" fmla="val 50000"/>
            </a:avLst>
          </a:prstGeom>
          <a:solidFill>
            <a:srgbClr val="047857">
              <a:alpha val="10000"/>
            </a:srgbClr>
          </a:solidFill>
          <a:ln w="9525">
            <a:solidFill>
              <a:srgbClr val="047857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1752600" y="9039225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047857"/>
          </a:solidFill>
          <a:ln/>
        </p:spPr>
      </p:sp>
      <p:sp>
        <p:nvSpPr>
          <p:cNvPr id="20" name="Text 18"/>
          <p:cNvSpPr/>
          <p:nvPr/>
        </p:nvSpPr>
        <p:spPr>
          <a:xfrm>
            <a:off x="2000250" y="8972550"/>
            <a:ext cx="352205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decisión sigue siendo humana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888289" y="2146548"/>
            <a:ext cx="7294811" cy="4266902"/>
          </a:xfrm>
          <a:prstGeom prst="roundRect">
            <a:avLst>
              <a:gd name="adj" fmla="val 4911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240714" y="2479923"/>
            <a:ext cx="72489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DEVUELVE EL MOTOR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240714" y="2975223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0F766E">
              <a:alpha val="12000"/>
            </a:srgbClr>
          </a:solidFill>
          <a:ln w="9525">
            <a:solidFill>
              <a:srgbClr val="0F766E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10383589" y="3118098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0850314" y="2975223"/>
            <a:ext cx="6578397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86"/>
              </a:lnSpc>
              <a:buNone/>
            </a:pPr>
            <a:r>
              <a:rPr lang="en-US" sz="21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equilibrio exacto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10850314" y="3349972"/>
            <a:ext cx="6159771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Plazas mínimas para cubrir los costes logísticos y estructurales de la ruta.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240714" y="4195614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0369A1">
              <a:alpha val="12000"/>
            </a:srgbClr>
          </a:solidFill>
          <a:ln w="9525">
            <a:solidFill>
              <a:srgbClr val="0369A1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2700000">
            <a:off x="10383589" y="4338489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0369A1"/>
          </a:solidFill>
          <a:ln/>
        </p:spPr>
      </p:sp>
      <p:sp>
        <p:nvSpPr>
          <p:cNvPr id="29" name="Text 27"/>
          <p:cNvSpPr/>
          <p:nvPr/>
        </p:nvSpPr>
        <p:spPr>
          <a:xfrm>
            <a:off x="10850314" y="4195614"/>
            <a:ext cx="6578397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286"/>
              </a:lnSpc>
              <a:buNone/>
            </a:pPr>
            <a:r>
              <a:rPr lang="en-US" sz="21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de la plaza marginal</a:t>
            </a:r>
            <a:endParaRPr lang="en-US" sz="2175" dirty="0"/>
          </a:p>
        </p:txBody>
      </p:sp>
      <p:sp>
        <p:nvSpPr>
          <p:cNvPr id="30" name="Text 28"/>
          <p:cNvSpPr/>
          <p:nvPr/>
        </p:nvSpPr>
        <p:spPr>
          <a:xfrm>
            <a:off x="10850314" y="4570363"/>
            <a:ext cx="6159771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directo de vender un asiento más sobre el beneficio neto proyectado.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888289" y="6623000"/>
            <a:ext cx="3542556" cy="3130600"/>
          </a:xfrm>
          <a:prstGeom prst="roundRect">
            <a:avLst>
              <a:gd name="adj" fmla="val 6694"/>
            </a:avLst>
          </a:prstGeom>
          <a:solidFill>
            <a:srgbClr val="0F766E">
              <a:alpha val="12000"/>
            </a:srgbClr>
          </a:solidFill>
          <a:ln w="9525">
            <a:solidFill>
              <a:srgbClr val="0F766E">
                <a:alpha val="2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02614" y="6918275"/>
            <a:ext cx="320529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4500" b="1" spc="-135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100 %</a:t>
            </a:r>
            <a:endParaRPr lang="en-US" sz="4500" dirty="0"/>
          </a:p>
        </p:txBody>
      </p:sp>
      <p:sp>
        <p:nvSpPr>
          <p:cNvPr id="33" name="Text 31"/>
          <p:cNvSpPr/>
          <p:nvPr/>
        </p:nvSpPr>
        <p:spPr>
          <a:xfrm>
            <a:off x="10202614" y="7585025"/>
            <a:ext cx="320529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endParaRPr lang="en-US" sz="2025" dirty="0"/>
          </a:p>
        </p:txBody>
      </p:sp>
      <p:sp>
        <p:nvSpPr>
          <p:cNvPr id="34" name="Text 32"/>
          <p:cNvSpPr/>
          <p:nvPr/>
        </p:nvSpPr>
        <p:spPr>
          <a:xfrm>
            <a:off x="10202614" y="7994600"/>
            <a:ext cx="3001323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salidas nuevas con margen calculado antes de publicarse.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3640395" y="6623000"/>
            <a:ext cx="3542705" cy="3130600"/>
          </a:xfrm>
          <a:prstGeom prst="roundRect">
            <a:avLst>
              <a:gd name="adj" fmla="val 6694"/>
            </a:avLst>
          </a:prstGeom>
          <a:solidFill>
            <a:srgbClr val="0369A1">
              <a:alpha val="10000"/>
            </a:srgbClr>
          </a:solidFill>
          <a:ln w="9525">
            <a:solidFill>
              <a:srgbClr val="0369A1">
                <a:alpha val="26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954720" y="6918275"/>
            <a:ext cx="3205460" cy="609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4500" b="1" spc="-135" kern="0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 pts</a:t>
            </a:r>
            <a:endParaRPr lang="en-US" sz="4500" dirty="0"/>
          </a:p>
        </p:txBody>
      </p:sp>
      <p:sp>
        <p:nvSpPr>
          <p:cNvPr id="37" name="Text 35"/>
          <p:cNvSpPr/>
          <p:nvPr/>
        </p:nvSpPr>
        <p:spPr>
          <a:xfrm>
            <a:off x="13954720" y="7585025"/>
            <a:ext cx="32054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</a:t>
            </a:r>
            <a:endParaRPr lang="en-US" sz="2025" dirty="0"/>
          </a:p>
        </p:txBody>
      </p:sp>
      <p:sp>
        <p:nvSpPr>
          <p:cNvPr id="38" name="Text 36"/>
          <p:cNvSpPr/>
          <p:nvPr/>
        </p:nvSpPr>
        <p:spPr>
          <a:xfrm>
            <a:off x="13954720" y="7994600"/>
            <a:ext cx="3001476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máximo esperado entre el margen real y el proyectado.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F766E">
                  <a:alpha val="22000"/>
                </a:srgbClr>
              </a:gs>
              <a:gs pos="42000">
                <a:srgbClr val="0F766E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04900" y="752475"/>
            <a:ext cx="43231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COMERCIAL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225504" y="666750"/>
            <a:ext cx="3112889" cy="438150"/>
          </a:xfrm>
          <a:prstGeom prst="roundRect">
            <a:avLst>
              <a:gd name="adj" fmla="val 50000"/>
            </a:avLst>
          </a:prstGeom>
          <a:solidFill>
            <a:srgbClr val="0F766E">
              <a:alpha val="10000"/>
            </a:srgbClr>
          </a:solidFill>
          <a:ln w="9525">
            <a:solidFill>
              <a:srgbClr val="0F766E">
                <a:alpha val="2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25529" y="752475"/>
            <a:ext cx="28062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IMPORTA HOY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4900" y="1238250"/>
            <a:ext cx="7956843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48"/>
              </a:lnSpc>
              <a:buNone/>
            </a:pPr>
            <a:r>
              <a:rPr lang="en-US" sz="5250" b="1" spc="-105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lista de los </a:t>
            </a:r>
            <a:pPr algn="l" indent="0" marL="0">
              <a:lnSpc>
                <a:spcPct val="88148"/>
              </a:lnSpc>
              <a:buNone/>
            </a:pPr>
            <a:r>
              <a:rPr lang="en-US" sz="5250" b="1" i="1" spc="-105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diez</a:t>
            </a:r>
            <a:endParaRPr lang="en-US" sz="5250" dirty="0"/>
          </a:p>
        </p:txBody>
      </p:sp>
      <p:sp>
        <p:nvSpPr>
          <p:cNvPr id="7" name="Shape 5"/>
          <p:cNvSpPr/>
          <p:nvPr/>
        </p:nvSpPr>
        <p:spPr>
          <a:xfrm>
            <a:off x="13298686" y="666750"/>
            <a:ext cx="3884414" cy="590550"/>
          </a:xfrm>
          <a:prstGeom prst="roundRect">
            <a:avLst>
              <a:gd name="adj" fmla="val 50000"/>
            </a:avLst>
          </a:prstGeom>
          <a:solidFill>
            <a:srgbClr val="047857">
              <a:alpha val="12000"/>
            </a:srgbClr>
          </a:solidFill>
          <a:ln w="9525">
            <a:solidFill>
              <a:srgbClr val="047857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74911" y="895350"/>
            <a:ext cx="133350" cy="133350"/>
          </a:xfrm>
          <a:prstGeom prst="ellipse">
            <a:avLst/>
          </a:prstGeom>
          <a:solidFill>
            <a:srgbClr val="047857">
              <a:alpha val="64000"/>
            </a:srgbClr>
          </a:solidFill>
          <a:ln/>
          <a:effectLst>
            <a:outerShdw sx="100000" sy="100000" kx="0" ky="0" algn="bl" rotWithShape="0" blurRad="101600" dist="50800" dir="16200000">
              <a:srgbClr val="34D399">
                <a:alpha val="1924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841611" y="828675"/>
            <a:ext cx="31572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YA EN MARCHA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04900" y="2165896"/>
            <a:ext cx="7905750" cy="7044779"/>
          </a:xfrm>
          <a:prstGeom prst="roundRect">
            <a:avLst>
              <a:gd name="adj" fmla="val 2975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96100" y="2270671"/>
            <a:ext cx="1959293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13500" b="1" dirty="0">
                <a:solidFill>
                  <a:srgbClr val="0F766E">
                    <a:alpha val="9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500" dirty="0"/>
          </a:p>
        </p:txBody>
      </p:sp>
      <p:sp>
        <p:nvSpPr>
          <p:cNvPr id="12" name="Shape 10"/>
          <p:cNvSpPr/>
          <p:nvPr/>
        </p:nvSpPr>
        <p:spPr>
          <a:xfrm rot="2700000">
            <a:off x="1514475" y="2594521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800225" y="2537371"/>
            <a:ext cx="21475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MAÑANA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14475" y="3032671"/>
            <a:ext cx="6278880" cy="1478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Diez personas a las que merece la pena escribir, con el motivo estratégico delante.</a:t>
            </a:r>
            <a:endParaRPr lang="en-US" sz="3150" dirty="0"/>
          </a:p>
        </p:txBody>
      </p:sp>
      <p:sp>
        <p:nvSpPr>
          <p:cNvPr id="15" name="Shape 13"/>
          <p:cNvSpPr/>
          <p:nvPr/>
        </p:nvSpPr>
        <p:spPr>
          <a:xfrm>
            <a:off x="1514475" y="6905625"/>
            <a:ext cx="7086600" cy="1933575"/>
          </a:xfrm>
          <a:prstGeom prst="roundRect">
            <a:avLst>
              <a:gd name="adj" fmla="val 8867"/>
            </a:avLst>
          </a:prstGeom>
          <a:solidFill>
            <a:srgbClr val="E8EEF2">
              <a:alpha val="72000"/>
            </a:srgbClr>
          </a:solidFill>
          <a:ln w="9525">
            <a:solidFill>
              <a:srgbClr val="94A3B8">
                <a:alpha val="2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09750" y="7181850"/>
            <a:ext cx="71456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MODELO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09750" y="7562850"/>
            <a:ext cx="669093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híbrido: reglas de negocio legibles más un modelo que solo lee y clasifica. Sin dependencia de API key — cae a heurística local si es necesario.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277350" y="2165896"/>
            <a:ext cx="7905750" cy="7044779"/>
          </a:xfrm>
          <a:prstGeom prst="roundRect">
            <a:avLst>
              <a:gd name="adj" fmla="val 2975"/>
            </a:avLst>
          </a:prstGeom>
          <a:gradFill rotWithShape="1">
            <a:gsLst>
              <a:gs pos="0">
                <a:srgbClr val="0F766E">
                  <a:alpha val="14000"/>
                </a:srgbClr>
              </a:gs>
              <a:gs pos="100000">
                <a:srgbClr val="FFFFFF">
                  <a:alpha val="72000"/>
                </a:srgbClr>
              </a:gs>
            </a:gsLst>
            <a:lin ang="4200000" scaled="0"/>
          </a:gradFill>
          <a:ln w="9525">
            <a:solidFill>
              <a:srgbClr val="0F766E">
                <a:alpha val="24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 rot="2700000">
            <a:off x="9686925" y="2594521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9972675" y="2537371"/>
            <a:ext cx="37987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LÍMITE TECNOLÓGICO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86925" y="3051721"/>
            <a:ext cx="7299198" cy="1254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215"/>
              </a:lnSpc>
              <a:buNone/>
            </a:pPr>
            <a:r>
              <a:rPr lang="en-US" sz="4200" b="1" spc="-63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sistema prepara. </a:t>
            </a:r>
            <a:pPr algn="l" indent="0" marL="0">
              <a:lnSpc>
                <a:spcPct val="98215"/>
              </a:lnSpc>
              <a:buNone/>
            </a:pPr>
            <a:r>
              <a:rPr lang="en-US" sz="4200" i="1" spc="-63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persona escribe.</a:t>
            </a:r>
            <a:endParaRPr lang="en-US" sz="4200" dirty="0"/>
          </a:p>
        </p:txBody>
      </p:sp>
      <p:sp>
        <p:nvSpPr>
          <p:cNvPr id="22" name="Shape 20"/>
          <p:cNvSpPr/>
          <p:nvPr/>
        </p:nvSpPr>
        <p:spPr>
          <a:xfrm>
            <a:off x="9686925" y="6776145"/>
            <a:ext cx="7086600" cy="2063055"/>
          </a:xfrm>
          <a:custGeom>
            <a:avLst/>
            <a:gdLst/>
            <a:ahLst/>
            <a:cxnLst/>
            <a:rect l="l" t="t" r="r" b="b"/>
            <a:pathLst>
              <a:path w="7086600" h="2063055">
                <a:moveTo>
                  <a:pt x="0" y="0"/>
                </a:moveTo>
                <a:lnTo>
                  <a:pt x="6915150" y="0"/>
                </a:lnTo>
                <a:arcTo hR="171450" wR="171450" stAng="16200000" swAng="5400000"/>
                <a:lnTo>
                  <a:pt x="7086600" y="1891605"/>
                </a:lnTo>
                <a:arcTo hR="171450" wR="171450" stAng="0" swAng="5400000"/>
                <a:lnTo>
                  <a:pt x="0" y="20630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6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686925" y="6776145"/>
            <a:ext cx="28575" cy="206305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10001250" y="7023795"/>
            <a:ext cx="668112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borrador se envía siempre desde el correo o el WhatsApp de Miguel, preservando su firma y su tono.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0001250" y="7861995"/>
            <a:ext cx="6681121" cy="767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highlight>
                  <a:srgbClr val="0F172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Línea roja del CRM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mensajes automatizados directos al cliente.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104900" y="9458325"/>
            <a:ext cx="16078200" cy="9525"/>
          </a:xfrm>
          <a:prstGeom prst="rect">
            <a:avLst/>
          </a:prstGeom>
          <a:solidFill>
            <a:srgbClr val="475569">
              <a:alpha val="16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104900" y="9525000"/>
            <a:ext cx="33035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MPS </a:t>
            </a:r>
            <a:pPr algn="l" indent="0" marL="0">
              <a:buNone/>
            </a:pPr>
            <a:r>
              <a:rPr lang="en-US" sz="1800" b="1" spc="288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ADVENTURES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687425" y="9525000"/>
            <a:ext cx="38452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leads · sistema híbrido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F766E">
                  <a:alpha val="22000"/>
                </a:srgbClr>
              </a:gs>
              <a:gs pos="42000">
                <a:srgbClr val="0F766E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04900" y="752475"/>
            <a:ext cx="50815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OPERATIVA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15025" y="666750"/>
            <a:ext cx="2209800" cy="438150"/>
          </a:xfrm>
          <a:prstGeom prst="roundRect">
            <a:avLst>
              <a:gd name="adj" fmla="val 50000"/>
            </a:avLst>
          </a:prstGeom>
          <a:solidFill>
            <a:srgbClr val="0F766E">
              <a:alpha val="10000"/>
            </a:srgbClr>
          </a:solidFill>
          <a:ln w="9525">
            <a:solidFill>
              <a:srgbClr val="0F766E">
                <a:alpha val="2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15050" y="752475"/>
            <a:ext cx="1885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GOBERNANZA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4900" y="1238250"/>
            <a:ext cx="11718265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48"/>
              </a:lnSpc>
              <a:buNone/>
            </a:pPr>
            <a:r>
              <a:rPr lang="en-US" sz="5250" b="1" spc="-105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burocracia, </a:t>
            </a:r>
            <a:pPr algn="l" indent="0" marL="0">
              <a:lnSpc>
                <a:spcPct val="88148"/>
              </a:lnSpc>
              <a:buNone/>
            </a:pPr>
            <a:r>
              <a:rPr lang="en-US" sz="5250" i="1" spc="-105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resuelta por el sistema.</a:t>
            </a:r>
            <a:endParaRPr lang="en-US" sz="5250" dirty="0"/>
          </a:p>
        </p:txBody>
      </p:sp>
      <p:sp>
        <p:nvSpPr>
          <p:cNvPr id="7" name="Shape 5"/>
          <p:cNvSpPr/>
          <p:nvPr/>
        </p:nvSpPr>
        <p:spPr>
          <a:xfrm>
            <a:off x="13753654" y="666750"/>
            <a:ext cx="3429446" cy="590550"/>
          </a:xfrm>
          <a:prstGeom prst="roundRect">
            <a:avLst>
              <a:gd name="adj" fmla="val 50000"/>
            </a:avLst>
          </a:prstGeom>
          <a:solidFill>
            <a:srgbClr val="047857">
              <a:alpha val="12000"/>
            </a:srgbClr>
          </a:solidFill>
          <a:ln w="9525">
            <a:solidFill>
              <a:srgbClr val="047857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4029878" y="8953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047857"/>
          </a:solidFill>
          <a:ln/>
        </p:spPr>
      </p:sp>
      <p:sp>
        <p:nvSpPr>
          <p:cNvPr id="9" name="Text 7"/>
          <p:cNvSpPr/>
          <p:nvPr/>
        </p:nvSpPr>
        <p:spPr>
          <a:xfrm>
            <a:off x="14296579" y="828675"/>
            <a:ext cx="268860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INTEGRADO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04900" y="2165896"/>
            <a:ext cx="5194250" cy="5635079"/>
          </a:xfrm>
          <a:prstGeom prst="roundRect">
            <a:avLst>
              <a:gd name="adj" fmla="val 4034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57325" y="2499271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0F766E">
              <a:alpha val="9000"/>
            </a:srgbClr>
          </a:solidFill>
          <a:ln w="9525">
            <a:solidFill>
              <a:srgbClr val="0F766E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1647825" y="2689771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2181225" y="2600176"/>
            <a:ext cx="3027998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842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 &amp; REAV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57325" y="3261271"/>
            <a:ext cx="4624082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automatizado del Régimen Especial de Agencias de Viajes (REAV 05). La complejidad matemática queda cubierta y testeada por el sistema.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457325" y="6507659"/>
            <a:ext cx="4489400" cy="959941"/>
          </a:xfrm>
          <a:custGeom>
            <a:avLst/>
            <a:gdLst/>
            <a:ahLst/>
            <a:cxnLst/>
            <a:rect l="l" t="t" r="r" b="b"/>
            <a:pathLst>
              <a:path w="4489400" h="959941">
                <a:moveTo>
                  <a:pt x="0" y="0"/>
                </a:moveTo>
                <a:lnTo>
                  <a:pt x="4375100" y="0"/>
                </a:lnTo>
                <a:arcTo hR="114300" wR="114300" stAng="16200000" swAng="5400000"/>
                <a:lnTo>
                  <a:pt x="4489400" y="845641"/>
                </a:lnTo>
                <a:arcTo hR="114300" wR="114300" stAng="0" swAng="5400000"/>
                <a:lnTo>
                  <a:pt x="0" y="959941"/>
                </a:lnTo>
                <a:lnTo>
                  <a:pt x="0" y="0"/>
                </a:lnTo>
                <a:close/>
              </a:path>
            </a:pathLst>
          </a:custGeom>
          <a:solidFill>
            <a:srgbClr val="0F766E">
              <a:alpha val="9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57325" y="6507659"/>
            <a:ext cx="28575" cy="959941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Shape 15"/>
          <p:cNvSpPr/>
          <p:nvPr/>
        </p:nvSpPr>
        <p:spPr>
          <a:xfrm rot="2700000">
            <a:off x="1695450" y="674578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1962150" y="6679109"/>
            <a:ext cx="3888276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 de PDF limpios y CSV estructurado directo para la gestoría.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46800" y="2165896"/>
            <a:ext cx="5194250" cy="5635079"/>
          </a:xfrm>
          <a:prstGeom prst="roundRect">
            <a:avLst>
              <a:gd name="adj" fmla="val 4034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99225" y="2499271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0369A1">
              <a:alpha val="9000"/>
            </a:srgbClr>
          </a:solidFill>
          <a:ln w="9525">
            <a:solidFill>
              <a:srgbClr val="0369A1">
                <a:alpha val="2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7089725" y="2689771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369A1"/>
          </a:solidFill>
          <a:ln/>
        </p:spPr>
      </p:sp>
      <p:sp>
        <p:nvSpPr>
          <p:cNvPr id="22" name="Text 20"/>
          <p:cNvSpPr/>
          <p:nvPr/>
        </p:nvSpPr>
        <p:spPr>
          <a:xfrm>
            <a:off x="7623125" y="2600176"/>
            <a:ext cx="3614738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842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Veri*FACTU 2027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99225" y="3261271"/>
            <a:ext cx="4624082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camino queda preparado: la estructura de la base de datos ya contempla los futuros requisitos de remisión de facturas a la Agencia Tributaria.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6899225" y="6507659"/>
            <a:ext cx="4489400" cy="959941"/>
          </a:xfrm>
          <a:custGeom>
            <a:avLst/>
            <a:gdLst/>
            <a:ahLst/>
            <a:cxnLst/>
            <a:rect l="l" t="t" r="r" b="b"/>
            <a:pathLst>
              <a:path w="4489400" h="959941">
                <a:moveTo>
                  <a:pt x="0" y="0"/>
                </a:moveTo>
                <a:lnTo>
                  <a:pt x="4375100" y="0"/>
                </a:lnTo>
                <a:arcTo hR="114300" wR="114300" stAng="16200000" swAng="5400000"/>
                <a:lnTo>
                  <a:pt x="4489400" y="845641"/>
                </a:lnTo>
                <a:arcTo hR="114300" wR="114300" stAng="0" swAng="5400000"/>
                <a:lnTo>
                  <a:pt x="0" y="959941"/>
                </a:lnTo>
                <a:lnTo>
                  <a:pt x="0" y="0"/>
                </a:lnTo>
                <a:close/>
              </a:path>
            </a:pathLst>
          </a:custGeom>
          <a:solidFill>
            <a:srgbClr val="0369A1">
              <a:alpha val="9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899225" y="6507659"/>
            <a:ext cx="28575" cy="959941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6" name="Shape 24"/>
          <p:cNvSpPr/>
          <p:nvPr/>
        </p:nvSpPr>
        <p:spPr>
          <a:xfrm rot="2700000">
            <a:off x="7137350" y="6745784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0369A1"/>
          </a:solidFill>
          <a:ln/>
        </p:spPr>
      </p:sp>
      <p:sp>
        <p:nvSpPr>
          <p:cNvPr id="27" name="Text 25"/>
          <p:cNvSpPr/>
          <p:nvPr/>
        </p:nvSpPr>
        <p:spPr>
          <a:xfrm>
            <a:off x="7404050" y="6679109"/>
            <a:ext cx="3888276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por fases. No hay que inventar el futuro el mes 1.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988701" y="2165896"/>
            <a:ext cx="5194250" cy="5635079"/>
          </a:xfrm>
          <a:prstGeom prst="roundRect">
            <a:avLst>
              <a:gd name="adj" fmla="val 4034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2341126" y="2499271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047857">
              <a:alpha val="9000"/>
            </a:srgbClr>
          </a:solidFill>
          <a:ln w="9525">
            <a:solidFill>
              <a:srgbClr val="047857">
                <a:alpha val="2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12531626" y="2689771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13065026" y="2600176"/>
            <a:ext cx="2703195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842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Blindaje normativo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2341126" y="3261271"/>
            <a:ext cx="4624082" cy="10791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 legal, privacidad y cookies unificados en </a:t>
            </a:r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475569"/>
                </a:solidFill>
                <a:highlight>
                  <a:srgbClr val="ECECE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/legal 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Infraestructura en cumplimiento con el RGPD.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2341126" y="6199138"/>
            <a:ext cx="4489400" cy="1268462"/>
          </a:xfrm>
          <a:custGeom>
            <a:avLst/>
            <a:gdLst/>
            <a:ahLst/>
            <a:cxnLst/>
            <a:rect l="l" t="t" r="r" b="b"/>
            <a:pathLst>
              <a:path w="4489400" h="1268462">
                <a:moveTo>
                  <a:pt x="0" y="0"/>
                </a:moveTo>
                <a:lnTo>
                  <a:pt x="4375100" y="0"/>
                </a:lnTo>
                <a:arcTo hR="114300" wR="114300" stAng="16200000" swAng="5400000"/>
                <a:lnTo>
                  <a:pt x="4489400" y="1154162"/>
                </a:lnTo>
                <a:arcTo hR="114300" wR="114300" stAng="0" swAng="5400000"/>
                <a:lnTo>
                  <a:pt x="0" y="1268462"/>
                </a:lnTo>
                <a:lnTo>
                  <a:pt x="0" y="0"/>
                </a:lnTo>
                <a:close/>
              </a:path>
            </a:pathLst>
          </a:custGeom>
          <a:solidFill>
            <a:srgbClr val="047857">
              <a:alpha val="9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2341126" y="6199138"/>
            <a:ext cx="28575" cy="126846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5" name="Shape 33"/>
          <p:cNvSpPr/>
          <p:nvPr/>
        </p:nvSpPr>
        <p:spPr>
          <a:xfrm rot="2700000">
            <a:off x="12579251" y="6437263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047857"/>
          </a:solidFill>
          <a:ln/>
        </p:spPr>
      </p:sp>
      <p:sp>
        <p:nvSpPr>
          <p:cNvPr id="36" name="Text 34"/>
          <p:cNvSpPr/>
          <p:nvPr/>
        </p:nvSpPr>
        <p:spPr>
          <a:xfrm>
            <a:off x="12845951" y="6370588"/>
            <a:ext cx="3888276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DPA firmados con Vercel y Supabase, más preparación del registro (art. 30).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04900" y="8048625"/>
            <a:ext cx="16078200" cy="1162050"/>
          </a:xfrm>
          <a:prstGeom prst="roundRect">
            <a:avLst>
              <a:gd name="adj" fmla="val 16393"/>
            </a:avLst>
          </a:prstGeom>
          <a:gradFill rotWithShape="1">
            <a:gsLst>
              <a:gs pos="0">
                <a:srgbClr val="0F172A">
                  <a:alpha val="100000"/>
                </a:srgbClr>
              </a:gs>
              <a:gs pos="100000">
                <a:srgbClr val="1E293B">
                  <a:alpha val="100000"/>
                </a:srgbClr>
              </a:gs>
            </a:gsLst>
            <a:lin ang="900000" scaled="0"/>
          </a:gradFill>
          <a:ln/>
          <a:effectLst>
            <a:outerShdw sx="100000" sy="100000" kx="0" ky="0" algn="bl" rotWithShape="0" blurRad="400050" dist="133350" dir="5400000">
              <a:srgbClr val="0F172A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409700" y="8372475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2DD4BF">
              <a:alpha val="18000"/>
            </a:srgbClr>
          </a:solidFill>
          <a:ln w="9525">
            <a:solidFill>
              <a:srgbClr val="2DD4BF">
                <a:alpha val="3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1581150" y="8543925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40" name="Text 38"/>
          <p:cNvSpPr/>
          <p:nvPr/>
        </p:nvSpPr>
        <p:spPr>
          <a:xfrm>
            <a:off x="2152650" y="8296275"/>
            <a:ext cx="151674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 desde el diseño: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aplica </a:t>
            </a:r>
            <a:pPr algn="l" indent="0" marL="0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minimización de datos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La ficha íntegra y los datos personales de un cliente nunca se exponen a un modelo de IA de terceros.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1104900" y="9458325"/>
            <a:ext cx="16078200" cy="9525"/>
          </a:xfrm>
          <a:prstGeom prst="rect">
            <a:avLst/>
          </a:prstGeom>
          <a:solidFill>
            <a:srgbClr val="475569">
              <a:alpha val="16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104900" y="9525000"/>
            <a:ext cx="33035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MPS </a:t>
            </a:r>
            <a:pPr algn="l" indent="0" marL="0">
              <a:buNone/>
            </a:pPr>
            <a:r>
              <a:rPr lang="en-US" sz="1800" b="1" spc="288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ADVENTURES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3773150" y="9525000"/>
            <a:ext cx="37509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fiscal y tecnológico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20000"/>
                </a:srgbClr>
              </a:gs>
              <a:gs pos="44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04900" y="752475"/>
            <a:ext cx="33256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 · FASE 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318695" y="666750"/>
            <a:ext cx="3714750" cy="438150"/>
          </a:xfrm>
          <a:prstGeom prst="roundRect">
            <a:avLst>
              <a:gd name="adj" fmla="val 50000"/>
            </a:avLst>
          </a:prstGeom>
          <a:solidFill>
            <a:srgbClr val="2DD4BF">
              <a:alpha val="12000"/>
            </a:srgbClr>
          </a:solidFill>
          <a:ln w="9525">
            <a:solidFill>
              <a:srgbClr val="2DD4BF">
                <a:alpha val="3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18720" y="752475"/>
            <a:ext cx="34261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PUESTA EN PRODUCCIÓN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4900" y="1238250"/>
            <a:ext cx="10459333" cy="1359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78"/>
              </a:lnSpc>
              <a:buNone/>
            </a:pPr>
            <a:r>
              <a:rPr lang="en-US" sz="5100" b="1" spc="-102" kern="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Vuestros datos reales </a:t>
            </a:r>
            <a:pPr algn="l" indent="0" marL="0">
              <a:lnSpc>
                <a:spcPct val="90078"/>
              </a:lnSpc>
              <a:buNone/>
            </a:pPr>
            <a:r>
              <a:rPr lang="en-US" sz="5100" i="1" spc="-102" kern="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dentro del sistema</a:t>
            </a:r>
            <a:endParaRPr lang="en-US" sz="5100" dirty="0"/>
          </a:p>
        </p:txBody>
      </p:sp>
      <p:sp>
        <p:nvSpPr>
          <p:cNvPr id="7" name="Shape 5"/>
          <p:cNvSpPr/>
          <p:nvPr/>
        </p:nvSpPr>
        <p:spPr>
          <a:xfrm>
            <a:off x="11640592" y="666750"/>
            <a:ext cx="2455962" cy="590550"/>
          </a:xfrm>
          <a:prstGeom prst="roundRect">
            <a:avLst>
              <a:gd name="adj" fmla="val 50000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1897767" y="8953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2164467" y="828675"/>
            <a:ext cx="175111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SEMANAS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248954" y="666750"/>
            <a:ext cx="2934146" cy="590550"/>
          </a:xfrm>
          <a:prstGeom prst="roundRect">
            <a:avLst>
              <a:gd name="adj" fmla="val 50000"/>
            </a:avLst>
          </a:prstGeom>
          <a:solidFill>
            <a:srgbClr val="047857">
              <a:alpha val="16000"/>
            </a:srgbClr>
          </a:solidFill>
          <a:ln w="9525">
            <a:solidFill>
              <a:srgbClr val="34D399">
                <a:alpha val="3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14506128" y="8953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14772829" y="828675"/>
            <a:ext cx="222929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 EN LICENCIAS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04900" y="2807196"/>
            <a:ext cx="3862387" cy="4974729"/>
          </a:xfrm>
          <a:prstGeom prst="roundRect">
            <a:avLst>
              <a:gd name="adj" fmla="val 5425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2DD4BF">
                <a:alpha val="22000"/>
              </a:srgbClr>
            </a:solidFill>
            <a:prstDash val="solid"/>
          </a:ln>
          <a:effectLst>
            <a:outerShdw sx="100000" sy="100000" kx="0" ky="0" algn="bl" rotWithShape="0" blurRad="438150" dist="1524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419225" y="3102471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2DD4BF">
              <a:alpha val="16000"/>
            </a:srgbClr>
          </a:solidFill>
          <a:ln w="9525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1609725" y="3292971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4214813" y="3169146"/>
            <a:ext cx="5143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33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419225" y="3845421"/>
            <a:ext cx="3557111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51"/>
              </a:lnSpc>
              <a:buNone/>
            </a:pPr>
            <a:r>
              <a:rPr lang="en-US" sz="23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Importación histórica</a:t>
            </a:r>
            <a:endParaRPr lang="en-US" sz="2325" dirty="0"/>
          </a:p>
        </p:txBody>
      </p:sp>
      <p:sp>
        <p:nvSpPr>
          <p:cNvPr id="18" name="Text 16"/>
          <p:cNvSpPr/>
          <p:nvPr/>
        </p:nvSpPr>
        <p:spPr>
          <a:xfrm>
            <a:off x="1419225" y="4375398"/>
            <a:ext cx="3330750" cy="170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Volcado completo de contactos desde Brevo y todo el histórico de reservas y viajes pasados al nuevo Data Hub.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5176838" y="2807196"/>
            <a:ext cx="3862387" cy="4974729"/>
          </a:xfrm>
          <a:prstGeom prst="roundRect">
            <a:avLst>
              <a:gd name="adj" fmla="val 5425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2DD4BF">
                <a:alpha val="22000"/>
              </a:srgbClr>
            </a:solidFill>
            <a:prstDash val="solid"/>
          </a:ln>
          <a:effectLst>
            <a:outerShdw sx="100000" sy="100000" kx="0" ky="0" algn="bl" rotWithShape="0" blurRad="438150" dist="1524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91163" y="3102471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2DD4BF">
              <a:alpha val="16000"/>
            </a:srgbClr>
          </a:solidFill>
          <a:ln w="9525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5681662" y="3292971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3169146"/>
            <a:ext cx="5715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33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5491163" y="3845421"/>
            <a:ext cx="3557111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51"/>
              </a:lnSpc>
              <a:buNone/>
            </a:pPr>
            <a:r>
              <a:rPr lang="en-US" sz="23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 origen</a:t>
            </a:r>
            <a:endParaRPr lang="en-US" sz="2325" dirty="0"/>
          </a:p>
        </p:txBody>
      </p:sp>
      <p:sp>
        <p:nvSpPr>
          <p:cNvPr id="24" name="Text 22"/>
          <p:cNvSpPr/>
          <p:nvPr/>
        </p:nvSpPr>
        <p:spPr>
          <a:xfrm>
            <a:off x="5491163" y="4375398"/>
            <a:ext cx="3330750" cy="170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Adaptación del formulario web actual, sin cambiar el diseño, para inyectar UTM ocultas y el selector «¿cómo nos conociste?».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248775" y="2807196"/>
            <a:ext cx="3862387" cy="4974729"/>
          </a:xfrm>
          <a:prstGeom prst="roundRect">
            <a:avLst>
              <a:gd name="adj" fmla="val 5425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2DD4BF">
                <a:alpha val="22000"/>
              </a:srgbClr>
            </a:solidFill>
            <a:prstDash val="solid"/>
          </a:ln>
          <a:effectLst>
            <a:outerShdw sx="100000" sy="100000" kx="0" ky="0" algn="bl" rotWithShape="0" blurRad="438150" dist="152400" dir="54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563100" y="3102471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2DD4BF">
              <a:alpha val="16000"/>
            </a:srgbClr>
          </a:solidFill>
          <a:ln w="9525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9753600" y="3292971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28" name="Text 26"/>
          <p:cNvSpPr/>
          <p:nvPr/>
        </p:nvSpPr>
        <p:spPr>
          <a:xfrm>
            <a:off x="12311063" y="3169146"/>
            <a:ext cx="5619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33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300" dirty="0"/>
          </a:p>
        </p:txBody>
      </p:sp>
      <p:sp>
        <p:nvSpPr>
          <p:cNvPr id="29" name="Text 27"/>
          <p:cNvSpPr/>
          <p:nvPr/>
        </p:nvSpPr>
        <p:spPr>
          <a:xfrm>
            <a:off x="9563100" y="3845421"/>
            <a:ext cx="3557111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51"/>
              </a:lnSpc>
              <a:buNone/>
            </a:pPr>
            <a:r>
              <a:rPr lang="en-US" sz="23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a producción</a:t>
            </a:r>
            <a:endParaRPr lang="en-US" sz="2325" dirty="0"/>
          </a:p>
        </p:txBody>
      </p:sp>
      <p:sp>
        <p:nvSpPr>
          <p:cNvPr id="30" name="Text 28"/>
          <p:cNvSpPr/>
          <p:nvPr/>
        </p:nvSpPr>
        <p:spPr>
          <a:xfrm>
            <a:off x="9563100" y="4375398"/>
            <a:ext cx="333075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Enlace directo a Supabase: los datos dejan de estar en el navegador local y pasan a una base segura en la nube.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3320713" y="2807196"/>
            <a:ext cx="3862387" cy="4974729"/>
          </a:xfrm>
          <a:prstGeom prst="roundRect">
            <a:avLst>
              <a:gd name="adj" fmla="val 5425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2DD4BF">
                <a:alpha val="22000"/>
              </a:srgbClr>
            </a:solidFill>
            <a:prstDash val="solid"/>
          </a:ln>
          <a:effectLst>
            <a:outerShdw sx="100000" sy="100000" kx="0" ky="0" algn="bl" rotWithShape="0" blurRad="438150" dist="152400" dir="54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3635038" y="3102471"/>
            <a:ext cx="552450" cy="552450"/>
          </a:xfrm>
          <a:prstGeom prst="roundRect">
            <a:avLst>
              <a:gd name="adj" fmla="val 24138"/>
            </a:avLst>
          </a:prstGeom>
          <a:solidFill>
            <a:srgbClr val="2DD4BF">
              <a:alpha val="16000"/>
            </a:srgbClr>
          </a:solidFill>
          <a:ln w="9525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13825537" y="3292971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34" name="Text 32"/>
          <p:cNvSpPr/>
          <p:nvPr/>
        </p:nvSpPr>
        <p:spPr>
          <a:xfrm>
            <a:off x="16373475" y="3169146"/>
            <a:ext cx="5715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33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300" dirty="0"/>
          </a:p>
        </p:txBody>
      </p:sp>
      <p:sp>
        <p:nvSpPr>
          <p:cNvPr id="35" name="Text 33"/>
          <p:cNvSpPr/>
          <p:nvPr/>
        </p:nvSpPr>
        <p:spPr>
          <a:xfrm>
            <a:off x="13635038" y="3845421"/>
            <a:ext cx="3557111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51"/>
              </a:lnSpc>
              <a:buNone/>
            </a:pPr>
            <a:r>
              <a:rPr lang="en-US" sz="23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seguridad</a:t>
            </a:r>
            <a:endParaRPr lang="en-US" sz="2325" dirty="0"/>
          </a:p>
        </p:txBody>
      </p:sp>
      <p:sp>
        <p:nvSpPr>
          <p:cNvPr id="36" name="Text 34"/>
          <p:cNvSpPr/>
          <p:nvPr/>
        </p:nvSpPr>
        <p:spPr>
          <a:xfrm>
            <a:off x="13635038" y="4375398"/>
            <a:ext cx="3330750" cy="1377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Bloqueo del entorno de demostración. Activación de </a:t>
            </a:r>
            <a:pPr algn="l" indent="0" marL="0">
              <a:lnSpc>
                <a:spcPct val="120690"/>
              </a:lnSpc>
              <a:buNone/>
            </a:pPr>
            <a:r>
              <a:rPr lang="en-US" sz="1800" dirty="0">
                <a:solidFill>
                  <a:srgbClr val="94A3B8"/>
                </a:solidFill>
                <a:highlight>
                  <a:srgbClr val="EEF0F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STRICT_AUTH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accesos reales para el equipo.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104900" y="8029575"/>
            <a:ext cx="16078200" cy="1181100"/>
          </a:xfrm>
          <a:prstGeom prst="roundRect">
            <a:avLst>
              <a:gd name="adj" fmla="val 16129"/>
            </a:avLst>
          </a:prstGeom>
          <a:solidFill>
            <a:srgbClr val="0F766E">
              <a:alpha val="16000"/>
            </a:srgbClr>
          </a:solidFill>
          <a:ln w="9525">
            <a:solidFill>
              <a:srgbClr val="2DD4BF">
                <a:alpha val="2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19225" y="836295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2DD4BF">
              <a:alpha val="18000"/>
            </a:srgbClr>
          </a:solidFill>
          <a:ln w="9525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1590675" y="8534400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40" name="Text 38"/>
          <p:cNvSpPr/>
          <p:nvPr/>
        </p:nvSpPr>
        <p:spPr>
          <a:xfrm>
            <a:off x="2162175" y="8286750"/>
            <a:ext cx="1514779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 absoluta del código y los datos.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entregable y la infraestructura son </a:t>
            </a:r>
            <a:pPr algn="l" indent="0" marL="0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vuestros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Está construido sobre tecnologías estándar para seguir funcionando de forma autónoma, incluso si mañana decidís no seguir conmigo.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1104900" y="9458325"/>
            <a:ext cx="16078200" cy="9525"/>
          </a:xfrm>
          <a:prstGeom prst="rect">
            <a:avLst/>
          </a:prstGeom>
          <a:solidFill>
            <a:srgbClr val="94A3B8">
              <a:alpha val="1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104900" y="9525000"/>
            <a:ext cx="33035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MPS </a:t>
            </a:r>
            <a:pPr algn="l" indent="0" marL="0">
              <a:buNone/>
            </a:pPr>
            <a:r>
              <a:rPr lang="en-US" sz="1800" b="1" spc="288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ADVENTURES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3506450" y="9525000"/>
            <a:ext cx="40443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despliegue · fase inmediata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F766E">
                  <a:alpha val="22000"/>
                </a:srgbClr>
              </a:gs>
              <a:gs pos="42000">
                <a:srgbClr val="0F766E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04900" y="752475"/>
            <a:ext cx="50627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DE DESPLIEGUE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897910" y="666750"/>
            <a:ext cx="3383310" cy="438150"/>
          </a:xfrm>
          <a:prstGeom prst="roundRect">
            <a:avLst>
              <a:gd name="adj" fmla="val 50000"/>
            </a:avLst>
          </a:prstGeom>
          <a:solidFill>
            <a:srgbClr val="0F766E">
              <a:alpha val="10000"/>
            </a:srgbClr>
          </a:solidFill>
          <a:ln w="9525">
            <a:solidFill>
              <a:srgbClr val="0F766E">
                <a:alpha val="2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7935" y="752475"/>
            <a:ext cx="30847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DE ONBOARDING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4900" y="1238250"/>
            <a:ext cx="1768602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48"/>
              </a:lnSpc>
              <a:buNone/>
            </a:pPr>
            <a:r>
              <a:rPr lang="en-US" sz="5250" b="1" spc="-105" kern="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Requerimientos para </a:t>
            </a:r>
            <a:pPr algn="l" indent="0" marL="0">
              <a:lnSpc>
                <a:spcPct val="88148"/>
              </a:lnSpc>
              <a:buNone/>
            </a:pPr>
            <a:r>
              <a:rPr lang="en-US" sz="5250" i="1" spc="-105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encender el motor</a:t>
            </a:r>
            <a:endParaRPr lang="en-US" sz="5250" dirty="0"/>
          </a:p>
        </p:txBody>
      </p:sp>
      <p:sp>
        <p:nvSpPr>
          <p:cNvPr id="7" name="Shape 5"/>
          <p:cNvSpPr/>
          <p:nvPr/>
        </p:nvSpPr>
        <p:spPr>
          <a:xfrm>
            <a:off x="1104900" y="2165896"/>
            <a:ext cx="7924800" cy="3679478"/>
          </a:xfrm>
          <a:prstGeom prst="roundRect">
            <a:avLst>
              <a:gd name="adj" fmla="val 5695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38275" y="2461171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0F766E">
              <a:alpha val="10000"/>
            </a:srgbClr>
          </a:solidFill>
          <a:ln w="9525">
            <a:solidFill>
              <a:srgbClr val="0F766E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1609725" y="2632621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2124075" y="2561183"/>
            <a:ext cx="307416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0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ACTIVOS DE DATOS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438275" y="3146971"/>
            <a:ext cx="7258050" cy="9525"/>
          </a:xfrm>
          <a:prstGeom prst="rect">
            <a:avLst/>
          </a:prstGeom>
          <a:solidFill>
            <a:srgbClr val="475569">
              <a:alpha val="1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1438275" y="3413671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733550" y="3327946"/>
            <a:ext cx="717165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 completa de </a:t>
            </a:r>
            <a:pPr algn="l" indent="0" marL="0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Brevo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(histórico de los últimos 24 meses).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 rot="2700000">
            <a:off x="1438275" y="4213771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733550" y="4128046"/>
            <a:ext cx="59616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Máster en Excel del </a:t>
            </a:r>
            <a:pPr algn="l" indent="0" marL="0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reservas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actuales.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258300" y="2165896"/>
            <a:ext cx="7924800" cy="3679478"/>
          </a:xfrm>
          <a:prstGeom prst="roundRect">
            <a:avLst>
              <a:gd name="adj" fmla="val 5695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91675" y="2461171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0369A1">
              <a:alpha val="10000"/>
            </a:srgbClr>
          </a:solidFill>
          <a:ln w="9525">
            <a:solidFill>
              <a:srgbClr val="0369A1">
                <a:alpha val="2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9763125" y="2632621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369A1"/>
          </a:solidFill>
          <a:ln/>
        </p:spPr>
      </p:sp>
      <p:sp>
        <p:nvSpPr>
          <p:cNvPr id="19" name="Text 17"/>
          <p:cNvSpPr/>
          <p:nvPr/>
        </p:nvSpPr>
        <p:spPr>
          <a:xfrm>
            <a:off x="10277475" y="2561183"/>
            <a:ext cx="61859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0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 DE INFRAESTRUCTURA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591675" y="3146971"/>
            <a:ext cx="7258050" cy="9525"/>
          </a:xfrm>
          <a:prstGeom prst="rect">
            <a:avLst/>
          </a:prstGeom>
          <a:solidFill>
            <a:srgbClr val="475569">
              <a:alpha val="1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9591675" y="3413671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0369A1"/>
          </a:solidFill>
          <a:ln/>
        </p:spPr>
      </p:sp>
      <p:sp>
        <p:nvSpPr>
          <p:cNvPr id="22" name="Text 20"/>
          <p:cNvSpPr/>
          <p:nvPr/>
        </p:nvSpPr>
        <p:spPr>
          <a:xfrm>
            <a:off x="9886950" y="3327946"/>
            <a:ext cx="75333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 de administrador: </a:t>
            </a:r>
            <a:pPr algn="l" indent="0" marL="0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WordPress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cuenta de Brevo.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 rot="2700000">
            <a:off x="9591675" y="3880396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0369A1"/>
          </a:solidFill>
          <a:ln/>
        </p:spPr>
      </p:sp>
      <p:sp>
        <p:nvSpPr>
          <p:cNvPr id="24" name="Text 22"/>
          <p:cNvSpPr/>
          <p:nvPr/>
        </p:nvSpPr>
        <p:spPr>
          <a:xfrm>
            <a:off x="9886950" y="3794671"/>
            <a:ext cx="717165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Analytics y </a:t>
            </a:r>
            <a:pPr algn="l" indent="0" marL="0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hosting/DNS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inyectar el sistema de UTM.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104900" y="6073973"/>
            <a:ext cx="7924800" cy="3679627"/>
          </a:xfrm>
          <a:prstGeom prst="roundRect">
            <a:avLst>
              <a:gd name="adj" fmla="val 5695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FFFFFF">
                <a:alpha val="70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38275" y="6369248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0F766E">
              <a:alpha val="10000"/>
            </a:srgbClr>
          </a:solidFill>
          <a:ln w="9525">
            <a:solidFill>
              <a:srgbClr val="0F766E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1609725" y="6540698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2124075" y="6469261"/>
            <a:ext cx="462696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0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OPERATIVA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1438275" y="7055048"/>
            <a:ext cx="7258050" cy="9525"/>
          </a:xfrm>
          <a:prstGeom prst="rect">
            <a:avLst/>
          </a:prstGeom>
          <a:solidFill>
            <a:srgbClr val="475569">
              <a:alpha val="1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2700000">
            <a:off x="1438275" y="7321748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1733550" y="7236023"/>
            <a:ext cx="717165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sesión con Miguel (2 h):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traspaso de visión comercial y reglas de negocio.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 rot="2700000">
            <a:off x="1438275" y="8121848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33" name="Text 31"/>
          <p:cNvSpPr/>
          <p:nvPr/>
        </p:nvSpPr>
        <p:spPr>
          <a:xfrm>
            <a:off x="1733550" y="8036123"/>
            <a:ext cx="717165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sesión con Laura (1 h):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del flujo manual de reservas actual.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9258300" y="6073973"/>
            <a:ext cx="7924800" cy="3679627"/>
          </a:xfrm>
          <a:prstGeom prst="roundRect">
            <a:avLst>
              <a:gd name="adj" fmla="val 5695"/>
            </a:avLst>
          </a:prstGeom>
          <a:gradFill rotWithShape="1">
            <a:gsLst>
              <a:gs pos="0">
                <a:srgbClr val="0F766E">
                  <a:alpha val="13000"/>
                </a:srgbClr>
              </a:gs>
              <a:gs pos="100000">
                <a:srgbClr val="FFFFFF">
                  <a:alpha val="84000"/>
                </a:srgbClr>
              </a:gs>
            </a:gsLst>
            <a:lin ang="4200000" scaled="0"/>
          </a:gradFill>
          <a:ln w="9525">
            <a:solidFill>
              <a:srgbClr val="0F766E">
                <a:alpha val="26000"/>
              </a:srgbClr>
            </a:solidFill>
            <a:prstDash val="solid"/>
          </a:ln>
          <a:effectLst>
            <a:outerShdw sx="100000" sy="100000" kx="0" ky="0" algn="bl" rotWithShape="0" blurRad="381000" dist="114300" dir="5400000">
              <a:srgbClr val="020617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591675" y="6369248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047857">
              <a:alpha val="12000"/>
            </a:srgbClr>
          </a:solidFill>
          <a:ln w="9525">
            <a:solidFill>
              <a:srgbClr val="047857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9763125" y="6540698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/>
        </p:spPr>
      </p:sp>
      <p:sp>
        <p:nvSpPr>
          <p:cNvPr id="37" name="Text 35"/>
          <p:cNvSpPr/>
          <p:nvPr/>
        </p:nvSpPr>
        <p:spPr>
          <a:xfrm>
            <a:off x="10277475" y="6469261"/>
            <a:ext cx="36692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05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APROBACIONES CLAVE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9591675" y="7055048"/>
            <a:ext cx="7258050" cy="9525"/>
          </a:xfrm>
          <a:prstGeom prst="rect">
            <a:avLst/>
          </a:prstGeom>
          <a:solidFill>
            <a:srgbClr val="475569">
              <a:alpha val="1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2700000">
            <a:off x="9591675" y="7321748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/>
        </p:spPr>
      </p:sp>
      <p:sp>
        <p:nvSpPr>
          <p:cNvPr id="40" name="Text 38"/>
          <p:cNvSpPr/>
          <p:nvPr/>
        </p:nvSpPr>
        <p:spPr>
          <a:xfrm>
            <a:off x="9886950" y="7236023"/>
            <a:ext cx="717165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conjunta de las </a:t>
            </a:r>
            <a:pPr algn="l" indent="0" marL="0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asunciones matemáticas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modelo de margen.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 rot="2700000">
            <a:off x="9591675" y="8121848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/>
        </p:spPr>
      </p:sp>
      <p:sp>
        <p:nvSpPr>
          <p:cNvPr id="42" name="Text 40"/>
          <p:cNvSpPr/>
          <p:nvPr/>
        </p:nvSpPr>
        <p:spPr>
          <a:xfrm>
            <a:off x="9886950" y="8036123"/>
            <a:ext cx="751236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del entorno de producción </a:t>
            </a:r>
            <a:pPr algn="l" indent="0" marL="0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nombre de 30 MPS.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20000"/>
                </a:srgbClr>
              </a:gs>
              <a:gs pos="44000">
                <a:srgbClr val="2DD4BF">
                  <a:alpha val="0"/>
                </a:srgbClr>
              </a:gs>
            </a:gsLst>
            <a:path path="circle">
              <a:fillToRect l="12000" t="0" r="88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04900" y="752475"/>
            <a:ext cx="31098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PRIMEROS 90 DÍAS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22539" y="666750"/>
            <a:ext cx="3989189" cy="438150"/>
          </a:xfrm>
          <a:prstGeom prst="roundRect">
            <a:avLst>
              <a:gd name="adj" fmla="val 50000"/>
            </a:avLst>
          </a:prstGeom>
          <a:solidFill>
            <a:srgbClr val="2DD4BF">
              <a:alpha val="12000"/>
            </a:srgbClr>
          </a:solidFill>
          <a:ln w="9525">
            <a:solidFill>
              <a:srgbClr val="2DD4BF">
                <a:alpha val="3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22564" y="752475"/>
            <a:ext cx="37088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Y OPERACIÓN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4900" y="1238250"/>
            <a:ext cx="17686020" cy="7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148"/>
              </a:lnSpc>
              <a:buNone/>
            </a:pPr>
            <a:r>
              <a:rPr lang="en-US" sz="5250" b="1" spc="-105" kern="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</a:t>
            </a:r>
            <a:pPr algn="l" indent="0" marL="0">
              <a:lnSpc>
                <a:spcPct val="88148"/>
              </a:lnSpc>
              <a:buNone/>
            </a:pPr>
            <a:r>
              <a:rPr lang="en-US" sz="5250" i="1" spc="-105" kern="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foco de la sesión de hoy</a:t>
            </a:r>
            <a:endParaRPr lang="en-US" sz="5250" dirty="0"/>
          </a:p>
        </p:txBody>
      </p:sp>
      <p:sp>
        <p:nvSpPr>
          <p:cNvPr id="7" name="Shape 5"/>
          <p:cNvSpPr/>
          <p:nvPr/>
        </p:nvSpPr>
        <p:spPr>
          <a:xfrm>
            <a:off x="1104900" y="2165896"/>
            <a:ext cx="8994428" cy="7587704"/>
          </a:xfrm>
          <a:prstGeom prst="roundRect">
            <a:avLst>
              <a:gd name="adj" fmla="val 2762"/>
            </a:avLst>
          </a:prstGeom>
          <a:solidFill>
            <a:srgbClr val="1E293B">
              <a:alpha val="58000"/>
            </a:srgbClr>
          </a:solidFill>
          <a:ln w="9525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438150" dist="152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76375" y="2499271"/>
            <a:ext cx="90766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DE IMPLEMENTACIÓN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57325" y="2994571"/>
            <a:ext cx="247650" cy="247650"/>
          </a:xfrm>
          <a:prstGeom prst="ellipse">
            <a:avLst/>
          </a:prstGeom>
          <a:solidFill>
            <a:srgbClr val="2DD4BF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50800" dir="16200000">
              <a:srgbClr val="2DD4BF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71625" y="3242221"/>
            <a:ext cx="19050" cy="1073944"/>
          </a:xfrm>
          <a:prstGeom prst="rect">
            <a:avLst/>
          </a:prstGeom>
          <a:gradFill rotWithShape="1">
            <a:gsLst>
              <a:gs pos="0">
                <a:srgbClr val="2DD4BF">
                  <a:alpha val="50000"/>
                </a:srgbClr>
              </a:gs>
              <a:gs pos="100000">
                <a:srgbClr val="2DD4BF">
                  <a:alpha val="12000"/>
                </a:srgbClr>
              </a:gs>
            </a:gsLst>
            <a:lin ang="540000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1914525" y="2994571"/>
            <a:ext cx="79209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Hecho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1914525" y="3385096"/>
            <a:ext cx="79209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estructural desarrollada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914525" y="3747046"/>
            <a:ext cx="792099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operativa: login, Data Hub, CRM, facturación y legal (RGPD).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457325" y="4316164"/>
            <a:ext cx="247650" cy="247650"/>
          </a:xfrm>
          <a:prstGeom prst="ellipse">
            <a:avLst/>
          </a:prstGeom>
          <a:ln w="19050">
            <a:solidFill>
              <a:srgbClr val="2DD4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71625" y="4563814"/>
            <a:ext cx="19050" cy="1395413"/>
          </a:xfrm>
          <a:prstGeom prst="rect">
            <a:avLst/>
          </a:prstGeom>
          <a:gradFill rotWithShape="1">
            <a:gsLst>
              <a:gs pos="0">
                <a:srgbClr val="2DD4BF">
                  <a:alpha val="50000"/>
                </a:srgbClr>
              </a:gs>
              <a:gs pos="100000">
                <a:srgbClr val="2DD4BF">
                  <a:alpha val="12000"/>
                </a:srgbClr>
              </a:gs>
            </a:gsLst>
            <a:lin ang="5400000" scaled="0"/>
          </a:gradFill>
          <a:ln/>
        </p:spPr>
      </p:sp>
      <p:sp>
        <p:nvSpPr>
          <p:cNvPr id="16" name="Text 14"/>
          <p:cNvSpPr/>
          <p:nvPr/>
        </p:nvSpPr>
        <p:spPr>
          <a:xfrm>
            <a:off x="1914525" y="4316164"/>
            <a:ext cx="859466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Semana 1–4</a:t>
            </a:r>
            <a:endParaRPr lang="en-US" sz="2325" dirty="0"/>
          </a:p>
        </p:txBody>
      </p:sp>
      <p:sp>
        <p:nvSpPr>
          <p:cNvPr id="17" name="Text 15"/>
          <p:cNvSpPr/>
          <p:nvPr/>
        </p:nvSpPr>
        <p:spPr>
          <a:xfrm>
            <a:off x="1914525" y="4706689"/>
            <a:ext cx="85946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Fundación y datos reales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914525" y="5068639"/>
            <a:ext cx="8047728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Sesiones con Miguel y Laura. Importación de Brevo y conexión web para captar origen (UTM).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457325" y="5959227"/>
            <a:ext cx="247650" cy="247650"/>
          </a:xfrm>
          <a:prstGeom prst="ellipse">
            <a:avLst/>
          </a:prstGeom>
          <a:ln w="19050">
            <a:solidFill>
              <a:srgbClr val="2DD4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71625" y="6206877"/>
            <a:ext cx="19050" cy="1395413"/>
          </a:xfrm>
          <a:prstGeom prst="rect">
            <a:avLst/>
          </a:prstGeom>
          <a:gradFill rotWithShape="1">
            <a:gsLst>
              <a:gs pos="0">
                <a:srgbClr val="2DD4BF">
                  <a:alpha val="50000"/>
                </a:srgbClr>
              </a:gs>
              <a:gs pos="100000">
                <a:srgbClr val="2DD4BF">
                  <a:alpha val="12000"/>
                </a:srgbClr>
              </a:gs>
            </a:gsLst>
            <a:lin ang="5400000" scaled="0"/>
          </a:gradFill>
          <a:ln/>
        </p:spPr>
      </p:sp>
      <p:sp>
        <p:nvSpPr>
          <p:cNvPr id="21" name="Text 19"/>
          <p:cNvSpPr/>
          <p:nvPr/>
        </p:nvSpPr>
        <p:spPr>
          <a:xfrm>
            <a:off x="1914525" y="5959227"/>
            <a:ext cx="859466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Semana 4–8</a:t>
            </a:r>
            <a:endParaRPr lang="en-US" sz="2325" dirty="0"/>
          </a:p>
        </p:txBody>
      </p:sp>
      <p:sp>
        <p:nvSpPr>
          <p:cNvPr id="22" name="Text 20"/>
          <p:cNvSpPr/>
          <p:nvPr/>
        </p:nvSpPr>
        <p:spPr>
          <a:xfrm>
            <a:off x="1914525" y="6349752"/>
            <a:ext cx="85946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comercial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1914525" y="6711702"/>
            <a:ext cx="8047728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Activación del modelo de margen por ruta y afinado del scoring de leads calientes y dormidos.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457325" y="7602289"/>
            <a:ext cx="247650" cy="247650"/>
          </a:xfrm>
          <a:prstGeom prst="ellipse">
            <a:avLst/>
          </a:prstGeom>
          <a:ln w="1905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14525" y="7602289"/>
            <a:ext cx="859466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Semana 8–12</a:t>
            </a:r>
            <a:endParaRPr lang="en-US" sz="2325" dirty="0"/>
          </a:p>
        </p:txBody>
      </p:sp>
      <p:sp>
        <p:nvSpPr>
          <p:cNvPr id="26" name="Text 24"/>
          <p:cNvSpPr/>
          <p:nvPr/>
        </p:nvSpPr>
        <p:spPr>
          <a:xfrm>
            <a:off x="1914525" y="7992814"/>
            <a:ext cx="85946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Autonomía total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914525" y="8354764"/>
            <a:ext cx="8047728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de contratos de datos (DPA), formación del equipo y traspaso completo de la infraestructura.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0366028" y="2165896"/>
            <a:ext cx="6817072" cy="7587704"/>
          </a:xfrm>
          <a:prstGeom prst="roundRect">
            <a:avLst>
              <a:gd name="adj" fmla="val 3074"/>
            </a:avLst>
          </a:prstGeom>
          <a:solidFill>
            <a:srgbClr val="1E293B">
              <a:alpha val="58000"/>
            </a:srgbClr>
          </a:solidFill>
          <a:ln w="9525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438150" dist="152400" dir="54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718453" y="2499271"/>
            <a:ext cx="67234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EJES PARA LA CONVERSACIÓN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718453" y="4218533"/>
            <a:ext cx="6112222" cy="9525"/>
          </a:xfrm>
          <a:prstGeom prst="rect">
            <a:avLst/>
          </a:prstGeom>
          <a:solidFill>
            <a:srgbClr val="94A3B8">
              <a:alpha val="2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718453" y="2994571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2DD4BF">
              <a:alpha val="14000"/>
            </a:srgbClr>
          </a:solidFill>
          <a:ln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10880378" y="3156496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2DD4BF"/>
          </a:solidFill>
          <a:ln/>
        </p:spPr>
      </p:sp>
      <p:sp>
        <p:nvSpPr>
          <p:cNvPr id="33" name="Text 31"/>
          <p:cNvSpPr/>
          <p:nvPr/>
        </p:nvSpPr>
        <p:spPr>
          <a:xfrm>
            <a:off x="11366153" y="2994571"/>
            <a:ext cx="601097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101" kern="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LOGÍSTICA</a:t>
            </a:r>
            <a:endParaRPr lang="en-US" sz="2025" dirty="0"/>
          </a:p>
        </p:txBody>
      </p:sp>
      <p:sp>
        <p:nvSpPr>
          <p:cNvPr id="34" name="Text 32"/>
          <p:cNvSpPr/>
          <p:nvPr/>
        </p:nvSpPr>
        <p:spPr>
          <a:xfrm>
            <a:off x="11366153" y="3366046"/>
            <a:ext cx="5628458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Techos operativos: ¿hay límite antes de 14 salidas? Y los tiempos de gestión de Laura.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10718453" y="5680621"/>
            <a:ext cx="6112222" cy="9525"/>
          </a:xfrm>
          <a:prstGeom prst="rect">
            <a:avLst/>
          </a:prstGeom>
          <a:solidFill>
            <a:srgbClr val="94A3B8">
              <a:alpha val="2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718453" y="4456658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2DD4BF">
              <a:alpha val="14000"/>
            </a:srgbClr>
          </a:solidFill>
          <a:ln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10880378" y="4618583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2DD4BF"/>
          </a:solidFill>
          <a:ln/>
        </p:spPr>
      </p:sp>
      <p:sp>
        <p:nvSpPr>
          <p:cNvPr id="38" name="Text 36"/>
          <p:cNvSpPr/>
          <p:nvPr/>
        </p:nvSpPr>
        <p:spPr>
          <a:xfrm>
            <a:off x="11366153" y="4456658"/>
            <a:ext cx="601097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101" kern="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RENTABILIDAD POR RUTA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11366153" y="4828133"/>
            <a:ext cx="5628458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de tracción autónoma frente a rutas de margen desconocido o descartadas.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0718453" y="5918746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2DD4BF">
              <a:alpha val="14000"/>
            </a:srgbClr>
          </a:solidFill>
          <a:ln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10880378" y="6080671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2DD4BF"/>
          </a:solidFill>
          <a:ln/>
        </p:spPr>
      </p:sp>
      <p:sp>
        <p:nvSpPr>
          <p:cNvPr id="42" name="Text 40"/>
          <p:cNvSpPr/>
          <p:nvPr/>
        </p:nvSpPr>
        <p:spPr>
          <a:xfrm>
            <a:off x="11366153" y="5918746"/>
            <a:ext cx="601097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101" kern="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ADQUISICIÓN Y CRM</a:t>
            </a:r>
            <a:endParaRPr lang="en-US" sz="2025" dirty="0"/>
          </a:p>
        </p:txBody>
      </p:sp>
      <p:sp>
        <p:nvSpPr>
          <p:cNvPr id="43" name="Text 41"/>
          <p:cNvSpPr/>
          <p:nvPr/>
        </p:nvSpPr>
        <p:spPr>
          <a:xfrm>
            <a:off x="11366153" y="6290221"/>
            <a:ext cx="5628458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real de la recomendación, mejor canal histórico y dueño interno del sistema.</a:t>
            </a:r>
            <a:endParaRPr lang="en-US" sz="18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DD4BF">
                  <a:alpha val="18000"/>
                </a:srgbClr>
              </a:gs>
              <a:gs pos="45000">
                <a:srgbClr val="2DD4BF">
                  <a:alpha val="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 rot="2700000">
            <a:off x="8763000" y="609600"/>
            <a:ext cx="762000" cy="762000"/>
          </a:xfrm>
          <a:prstGeom prst="roundRect">
            <a:avLst>
              <a:gd name="adj" fmla="val 22500"/>
            </a:avLst>
          </a:prstGeom>
          <a:solidFill>
            <a:srgbClr val="1E293B">
              <a:alpha val="70000"/>
            </a:srgbClr>
          </a:solidFill>
          <a:ln w="9525">
            <a:solidFill>
              <a:srgbClr val="2DD4BF">
                <a:alpha val="3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8885" y="815485"/>
            <a:ext cx="350230" cy="350230"/>
          </a:xfrm>
          <a:prstGeom prst="roundRect">
            <a:avLst>
              <a:gd name="adj" fmla="val 13598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1785938" y="2299841"/>
            <a:ext cx="14716125" cy="1688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586"/>
              </a:lnSpc>
              <a:buNone/>
            </a:pPr>
            <a:r>
              <a:rPr lang="en-US" sz="5700" b="1" spc="-85" kern="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 trabajo termina cuando el sistema camina solo.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785938" y="4197697"/>
            <a:ext cx="14716125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247"/>
              </a:lnSpc>
              <a:buNone/>
            </a:pPr>
            <a:r>
              <a:rPr lang="en-US" sz="5250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código, los datos y la independencia se quedan en casa.</a:t>
            </a:r>
            <a:endParaRPr lang="en-US" sz="5250" dirty="0"/>
          </a:p>
        </p:txBody>
      </p:sp>
      <p:sp>
        <p:nvSpPr>
          <p:cNvPr id="7" name="Text 5"/>
          <p:cNvSpPr/>
          <p:nvPr/>
        </p:nvSpPr>
        <p:spPr>
          <a:xfrm>
            <a:off x="7347109" y="6672709"/>
            <a:ext cx="35937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Yoandy Ramírez Delgado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5859304" y="7206109"/>
            <a:ext cx="656939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spc="3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BUILDER · PERFIL FREELANCE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5214938" y="7672834"/>
            <a:ext cx="2990850" cy="561975"/>
          </a:xfrm>
          <a:prstGeom prst="roundRect">
            <a:avLst>
              <a:gd name="adj" fmla="val 50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94A3B8">
                <a:alpha val="24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2113" y="7829996"/>
            <a:ext cx="247650" cy="2476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853113" y="7815709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yoandyramirez.com</a:t>
            </a:r>
            <a:endParaRPr lang="en-US" sz="1875" dirty="0"/>
          </a:p>
        </p:txBody>
      </p:sp>
      <p:sp>
        <p:nvSpPr>
          <p:cNvPr id="12" name="Shape 9"/>
          <p:cNvSpPr/>
          <p:nvPr/>
        </p:nvSpPr>
        <p:spPr>
          <a:xfrm>
            <a:off x="8377238" y="7672834"/>
            <a:ext cx="2457450" cy="561975"/>
          </a:xfrm>
          <a:prstGeom prst="roundRect">
            <a:avLst>
              <a:gd name="adj" fmla="val 50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94A3B8">
                <a:alpha val="24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4413" y="7829996"/>
            <a:ext cx="247650" cy="2476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015413" y="7815709"/>
            <a:ext cx="163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/in/yoandyrd92</a:t>
            </a:r>
            <a:endParaRPr lang="en-US" sz="1875" dirty="0"/>
          </a:p>
        </p:txBody>
      </p:sp>
      <p:sp>
        <p:nvSpPr>
          <p:cNvPr id="15" name="Shape 11"/>
          <p:cNvSpPr/>
          <p:nvPr/>
        </p:nvSpPr>
        <p:spPr>
          <a:xfrm>
            <a:off x="11006138" y="7672834"/>
            <a:ext cx="2066925" cy="561975"/>
          </a:xfrm>
          <a:prstGeom prst="roundRect">
            <a:avLst>
              <a:gd name="adj" fmla="val 50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94A3B8">
                <a:alpha val="24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63313" y="7829996"/>
            <a:ext cx="247650" cy="2476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644313" y="7815709"/>
            <a:ext cx="1247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/heindall92</a:t>
            </a:r>
            <a:endParaRPr lang="en-US" sz="1875" dirty="0"/>
          </a:p>
        </p:txBody>
      </p:sp>
      <p:sp>
        <p:nvSpPr>
          <p:cNvPr id="18" name="Shape 13"/>
          <p:cNvSpPr/>
          <p:nvPr/>
        </p:nvSpPr>
        <p:spPr>
          <a:xfrm rot="2700000">
            <a:off x="1238250" y="9386887"/>
            <a:ext cx="142875" cy="142875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/>
        </p:spPr>
      </p:sp>
      <p:sp>
        <p:nvSpPr>
          <p:cNvPr id="19" name="Text 14"/>
          <p:cNvSpPr/>
          <p:nvPr/>
        </p:nvSpPr>
        <p:spPr>
          <a:xfrm>
            <a:off x="1514475" y="9324975"/>
            <a:ext cx="317331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324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MPS ADVENTURES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5205859" y="9163050"/>
            <a:ext cx="8511629" cy="590550"/>
          </a:xfrm>
          <a:prstGeom prst="roundRect">
            <a:avLst>
              <a:gd name="adj" fmla="val 50000"/>
            </a:avLst>
          </a:prstGeom>
          <a:solidFill>
            <a:srgbClr val="047857">
              <a:alpha val="22000"/>
            </a:srgbClr>
          </a:solidFill>
          <a:ln w="9525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 rot="2700000">
            <a:off x="5501134" y="93916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34D399"/>
          </a:solidFill>
          <a:ln/>
        </p:spPr>
      </p:sp>
      <p:sp>
        <p:nvSpPr>
          <p:cNvPr id="22" name="Text 17"/>
          <p:cNvSpPr/>
          <p:nvPr/>
        </p:nvSpPr>
        <p:spPr>
          <a:xfrm>
            <a:off x="5786884" y="9324975"/>
            <a:ext cx="786438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8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ORO: SIN MENSAJES AUTOMÁTICOS AL CLIENTE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4191737" y="9324975"/>
            <a:ext cx="29941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252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30MPS.VERCEL.APP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2026-07-30T12:03:34Z</dcterms:created>
  <dcterms:modified xsi:type="dcterms:W3CDTF">2026-07-30T12:03:34Z</dcterms:modified>
</cp:coreProperties>
</file>